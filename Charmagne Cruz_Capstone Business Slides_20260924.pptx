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Roboto"/>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07E2D5-45CF-41F3-9BAA-CD93C9260602}">
  <a:tblStyle styleId="{CC07E2D5-45CF-41F3-9BAA-CD93C926060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Merriweather-regular.fntdata"/><Relationship Id="rId21" Type="http://schemas.openxmlformats.org/officeDocument/2006/relationships/font" Target="fonts/Roboto-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64ae605341_0_1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264ae605341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409fd8acc6f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 name="Google Shape;84;g409fd8acc6f_0_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409fd8acc6f_0_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409fd8acc6f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409fd8acc6f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409fd8acc6f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409fd8acc6f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409fd8acc6f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409fd8acc6f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09fd8acc6f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409fd8acc6f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Before building any model, we needed to check whether this data actually has structure worth clustering or if it's just noise. Each dot is one transaction, plotted so that similar transactions land near each other. What you see isn't one big blob or random scatter. It's distinct groupings. That's the visual version of the Hopkins statistic (0.981) mentioned earlier: real, exploitable structure existed in the data before we ever ran a clustering algorithm on it. </a:t>
            </a:r>
            <a:endParaRPr/>
          </a:p>
        </p:txBody>
      </p:sp>
      <p:sp>
        <p:nvSpPr>
          <p:cNvPr id="107" name="Google Shape;107;g409fd8acc6f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09fd8acc6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09fd8acc6f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409fd8acc6f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409fd8acc6f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409fd8acc6f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409fd8acc6f_0_1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409fd8acc6f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09fd8acc6f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409fd8acc6f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09fd8acc6f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409fd8acc6f_0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409fd8acc6f_0_1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409fd8acc6f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409fd8acc6f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409fd8acc6f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409fd8acc6f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409fd8acc6f_0_1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409fd8acc6f_0_1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409fd8acc6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409fd8acc6f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409fd8acc6f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sp>
        <p:nvSpPr>
          <p:cNvPr id="14" name="Google Shape;14;p2"/>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5" name="Google Shape;15;p2"/>
          <p:cNvSpPr txBox="1"/>
          <p:nvPr>
            <p:ph type="ctr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 name="Google Shape;16;p2"/>
          <p:cNvSpPr txBox="1"/>
          <p:nvPr>
            <p:ph idx="1" type="subTitle"/>
          </p:nvPr>
        </p:nvSpPr>
        <p:spPr>
          <a:xfrm>
            <a:off x="415600" y="2504747"/>
            <a:ext cx="5656800" cy="984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p:txBody>
      </p:sp>
      <p:sp>
        <p:nvSpPr>
          <p:cNvPr id="17" name="Google Shape;17;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8" name="Shape 18"/>
        <p:cNvGrpSpPr/>
        <p:nvPr/>
      </p:nvGrpSpPr>
      <p:grpSpPr>
        <a:xfrm>
          <a:off x="0" y="0"/>
          <a:ext cx="0" cy="0"/>
          <a:chOff x="0" y="0"/>
          <a:chExt cx="0" cy="0"/>
        </a:xfrm>
      </p:grpSpPr>
      <p:sp>
        <p:nvSpPr>
          <p:cNvPr id="19" name="Google Shape;19;p3"/>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0" name="Google Shape;20;p3"/>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1" name="Google Shape;21;p3"/>
          <p:cNvSpPr txBox="1"/>
          <p:nvPr>
            <p:ph type="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2" name="Google Shape;22;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p4"/>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6" name="Google Shape;26;p4"/>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7" name="Google Shape;27;p4"/>
          <p:cNvSpPr txBox="1"/>
          <p:nvPr>
            <p:ph type="title"/>
          </p:nvPr>
        </p:nvSpPr>
        <p:spPr>
          <a:xfrm>
            <a:off x="415633" y="667900"/>
            <a:ext cx="4941900" cy="3345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8" name="Google Shape;28;p4"/>
          <p:cNvSpPr txBox="1"/>
          <p:nvPr>
            <p:ph idx="1" type="body"/>
          </p:nvPr>
        </p:nvSpPr>
        <p:spPr>
          <a:xfrm>
            <a:off x="6192900" y="667900"/>
            <a:ext cx="5555100" cy="5464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9" name="Google Shape;2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3" name="Google Shape;33;p5"/>
          <p:cNvSpPr txBox="1"/>
          <p:nvPr>
            <p:ph idx="1" type="body"/>
          </p:nvPr>
        </p:nvSpPr>
        <p:spPr>
          <a:xfrm>
            <a:off x="4156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4" name="Google Shape;34;p5"/>
          <p:cNvSpPr txBox="1"/>
          <p:nvPr>
            <p:ph idx="2" type="body"/>
          </p:nvPr>
        </p:nvSpPr>
        <p:spPr>
          <a:xfrm>
            <a:off x="64432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5" name="Google Shape;35;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6"/>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9" name="Google Shape;39;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7"/>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415633" y="667900"/>
            <a:ext cx="4170000" cy="2438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43" name="Google Shape;43;p7"/>
          <p:cNvSpPr txBox="1"/>
          <p:nvPr>
            <p:ph idx="1" type="body"/>
          </p:nvPr>
        </p:nvSpPr>
        <p:spPr>
          <a:xfrm>
            <a:off x="415600" y="3187533"/>
            <a:ext cx="4170000" cy="3063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44" name="Google Shape;44;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15567" y="1064800"/>
            <a:ext cx="8330400" cy="4728300"/>
          </a:xfrm>
          <a:prstGeom prst="rect">
            <a:avLst/>
          </a:prstGeom>
        </p:spPr>
        <p:txBody>
          <a:bodyPr anchorCtr="0" anchor="ctr"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415067" y="667900"/>
            <a:ext cx="4939200" cy="273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51" name="Google Shape;51;p9"/>
          <p:cNvSpPr txBox="1"/>
          <p:nvPr>
            <p:ph idx="1" type="subTitle"/>
          </p:nvPr>
        </p:nvSpPr>
        <p:spPr>
          <a:xfrm>
            <a:off x="406400" y="3502300"/>
            <a:ext cx="4939200" cy="1235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p:txBody>
      </p:sp>
      <p:sp>
        <p:nvSpPr>
          <p:cNvPr id="52" name="Google Shape;52;p9"/>
          <p:cNvSpPr txBox="1"/>
          <p:nvPr>
            <p:ph idx="2" type="body"/>
          </p:nvPr>
        </p:nvSpPr>
        <p:spPr>
          <a:xfrm>
            <a:off x="6505367" y="667900"/>
            <a:ext cx="5271900" cy="5481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3" name="Google Shape;53;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415600" y="6028533"/>
            <a:ext cx="106392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415667" y="1108233"/>
            <a:ext cx="7113300" cy="16596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60" name="Google Shape;60;p11"/>
          <p:cNvSpPr txBox="1"/>
          <p:nvPr>
            <p:ph idx="1" type="body"/>
          </p:nvPr>
        </p:nvSpPr>
        <p:spPr>
          <a:xfrm>
            <a:off x="415600" y="2828567"/>
            <a:ext cx="7113300" cy="1256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61" name="Google Shape;61;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66" name="Google Shape;66;p1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1600"/>
              </a:spcBef>
              <a:spcAft>
                <a:spcPts val="0"/>
              </a:spcAft>
              <a:buClr>
                <a:schemeClr val="dk1"/>
              </a:buClr>
              <a:buSzPts val="1800"/>
              <a:buChar char="○"/>
              <a:defRPr/>
            </a:lvl2pPr>
            <a:lvl3pPr indent="-342900" lvl="2" marL="1371600" rtl="0" algn="l">
              <a:lnSpc>
                <a:spcPct val="90000"/>
              </a:lnSpc>
              <a:spcBef>
                <a:spcPts val="1600"/>
              </a:spcBef>
              <a:spcAft>
                <a:spcPts val="0"/>
              </a:spcAft>
              <a:buClr>
                <a:schemeClr val="dk1"/>
              </a:buClr>
              <a:buSzPts val="1800"/>
              <a:buChar char="■"/>
              <a:defRPr/>
            </a:lvl3pPr>
            <a:lvl4pPr indent="-342900" lvl="3" marL="1828800" rtl="0" algn="l">
              <a:lnSpc>
                <a:spcPct val="90000"/>
              </a:lnSpc>
              <a:spcBef>
                <a:spcPts val="1600"/>
              </a:spcBef>
              <a:spcAft>
                <a:spcPts val="0"/>
              </a:spcAft>
              <a:buClr>
                <a:schemeClr val="dk1"/>
              </a:buClr>
              <a:buSzPts val="1800"/>
              <a:buChar char="●"/>
              <a:defRPr/>
            </a:lvl4pPr>
            <a:lvl5pPr indent="-342900" lvl="4" marL="2286000" rtl="0" algn="l">
              <a:lnSpc>
                <a:spcPct val="90000"/>
              </a:lnSpc>
              <a:spcBef>
                <a:spcPts val="1600"/>
              </a:spcBef>
              <a:spcAft>
                <a:spcPts val="0"/>
              </a:spcAft>
              <a:buClr>
                <a:schemeClr val="dk1"/>
              </a:buClr>
              <a:buSzPts val="1800"/>
              <a:buChar char="○"/>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67" name="Google Shape;67;p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p:spTree>
      <p:nvGrpSpPr>
        <p:cNvPr id="70" name="Shape 70"/>
        <p:cNvGrpSpPr/>
        <p:nvPr/>
      </p:nvGrpSpPr>
      <p:grpSpPr>
        <a:xfrm>
          <a:off x="0" y="0"/>
          <a:ext cx="0" cy="0"/>
          <a:chOff x="0" y="0"/>
          <a:chExt cx="0" cy="0"/>
        </a:xfrm>
      </p:grpSpPr>
      <p:sp>
        <p:nvSpPr>
          <p:cNvPr id="71" name="Google Shape;71;p14"/>
          <p:cNvSpPr txBox="1"/>
          <p:nvPr>
            <p:ph type="title"/>
          </p:nvPr>
        </p:nvSpPr>
        <p:spPr>
          <a:xfrm>
            <a:off x="757467" y="95493"/>
            <a:ext cx="11140200" cy="574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700"/>
              <a:buNone/>
              <a:defRPr b="1" i="0" sz="1900">
                <a:solidFill>
                  <a:schemeClr val="dk1"/>
                </a:solidFill>
                <a:latin typeface="Arial"/>
                <a:ea typeface="Arial"/>
                <a:cs typeface="Arial"/>
                <a:sym typeface="Aria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72" name="Google Shape;72;p14"/>
          <p:cNvSpPr txBox="1"/>
          <p:nvPr>
            <p:ph idx="1" type="body"/>
          </p:nvPr>
        </p:nvSpPr>
        <p:spPr>
          <a:xfrm>
            <a:off x="293516" y="1178053"/>
            <a:ext cx="11545200" cy="4715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700"/>
              <a:buNone/>
              <a:defRPr b="0" i="0">
                <a:solidFill>
                  <a:schemeClr val="dk1"/>
                </a:solidFill>
              </a:defRPr>
            </a:lvl1pPr>
            <a:lvl2pPr indent="-228600" lvl="1" marL="914400" algn="l">
              <a:spcBef>
                <a:spcPts val="1600"/>
              </a:spcBef>
              <a:spcAft>
                <a:spcPts val="0"/>
              </a:spcAft>
              <a:buSzPts val="1500"/>
              <a:buNone/>
              <a:defRPr/>
            </a:lvl2pPr>
            <a:lvl3pPr indent="-228600" lvl="2" marL="1371600" algn="l">
              <a:spcBef>
                <a:spcPts val="1600"/>
              </a:spcBef>
              <a:spcAft>
                <a:spcPts val="0"/>
              </a:spcAft>
              <a:buSzPts val="1500"/>
              <a:buNone/>
              <a:defRPr/>
            </a:lvl3pPr>
            <a:lvl4pPr indent="-228600" lvl="3" marL="1828800" algn="l">
              <a:spcBef>
                <a:spcPts val="1600"/>
              </a:spcBef>
              <a:spcAft>
                <a:spcPts val="0"/>
              </a:spcAft>
              <a:buSzPts val="1500"/>
              <a:buNone/>
              <a:defRPr/>
            </a:lvl4pPr>
            <a:lvl5pPr indent="-228600" lvl="4" marL="2286000" algn="l">
              <a:spcBef>
                <a:spcPts val="1600"/>
              </a:spcBef>
              <a:spcAft>
                <a:spcPts val="0"/>
              </a:spcAft>
              <a:buSzPts val="1500"/>
              <a:buNone/>
              <a:defRPr/>
            </a:lvl5pPr>
            <a:lvl6pPr indent="-228600" lvl="5" marL="2743200" algn="l">
              <a:spcBef>
                <a:spcPts val="1600"/>
              </a:spcBef>
              <a:spcAft>
                <a:spcPts val="0"/>
              </a:spcAft>
              <a:buSzPts val="1500"/>
              <a:buNone/>
              <a:defRPr/>
            </a:lvl6pPr>
            <a:lvl7pPr indent="-228600" lvl="6" marL="3200400" algn="l">
              <a:spcBef>
                <a:spcPts val="1600"/>
              </a:spcBef>
              <a:spcAft>
                <a:spcPts val="0"/>
              </a:spcAft>
              <a:buSzPts val="1500"/>
              <a:buNone/>
              <a:defRPr/>
            </a:lvl7pPr>
            <a:lvl8pPr indent="-228600" lvl="7" marL="3657600" algn="l">
              <a:spcBef>
                <a:spcPts val="1600"/>
              </a:spcBef>
              <a:spcAft>
                <a:spcPts val="0"/>
              </a:spcAft>
              <a:buSzPts val="1500"/>
              <a:buNone/>
              <a:defRPr/>
            </a:lvl8pPr>
            <a:lvl9pPr indent="-228600" lvl="8" marL="4114800" algn="l">
              <a:spcBef>
                <a:spcPts val="1600"/>
              </a:spcBef>
              <a:spcAft>
                <a:spcPts val="1600"/>
              </a:spcAft>
              <a:buSzPts val="1500"/>
              <a:buNone/>
              <a:defRPr/>
            </a:lvl9pPr>
          </a:lstStyle>
          <a:p/>
        </p:txBody>
      </p:sp>
      <p:sp>
        <p:nvSpPr>
          <p:cNvPr id="73" name="Google Shape;73;p14"/>
          <p:cNvSpPr txBox="1"/>
          <p:nvPr>
            <p:ph idx="11" type="ftr"/>
          </p:nvPr>
        </p:nvSpPr>
        <p:spPr>
          <a:xfrm>
            <a:off x="5509383" y="6447261"/>
            <a:ext cx="1350300" cy="287100"/>
          </a:xfrm>
          <a:prstGeom prst="rect">
            <a:avLst/>
          </a:prstGeom>
          <a:noFill/>
          <a:ln>
            <a:noFill/>
          </a:ln>
        </p:spPr>
        <p:txBody>
          <a:bodyPr anchorCtr="0" anchor="t" bIns="0" lIns="0" spcFirstLastPara="1" rIns="0" wrap="square" tIns="0">
            <a:spAutoFit/>
          </a:bodyPr>
          <a:lstStyle>
            <a:lvl1pPr lvl="0">
              <a:spcBef>
                <a:spcPts val="0"/>
              </a:spcBef>
              <a:spcAft>
                <a:spcPts val="0"/>
              </a:spcAft>
              <a:buSzPts val="1900"/>
              <a:buNone/>
              <a:defRPr b="0" i="0" sz="1100">
                <a:solidFill>
                  <a:srgbClr val="808080"/>
                </a:solidFill>
                <a:latin typeface="Arial"/>
                <a:ea typeface="Arial"/>
                <a:cs typeface="Arial"/>
                <a:sym typeface="Arial"/>
              </a:defRPr>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sp>
        <p:nvSpPr>
          <p:cNvPr id="74" name="Google Shape;74;p14"/>
          <p:cNvSpPr txBox="1"/>
          <p:nvPr>
            <p:ph idx="10" type="dt"/>
          </p:nvPr>
        </p:nvSpPr>
        <p:spPr>
          <a:xfrm>
            <a:off x="609600" y="6377940"/>
            <a:ext cx="28038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900"/>
              <a:buNone/>
              <a:defRPr sz="1900">
                <a:solidFill>
                  <a:srgbClr val="888888"/>
                </a:solidFill>
              </a:defRPr>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sp>
        <p:nvSpPr>
          <p:cNvPr id="75" name="Google Shape;75;p14"/>
          <p:cNvSpPr txBox="1"/>
          <p:nvPr>
            <p:ph idx="12" type="sldNum"/>
          </p:nvPr>
        </p:nvSpPr>
        <p:spPr>
          <a:xfrm>
            <a:off x="11734392" y="6438916"/>
            <a:ext cx="288600" cy="184800"/>
          </a:xfrm>
          <a:prstGeom prst="rect">
            <a:avLst/>
          </a:prstGeom>
          <a:noFill/>
          <a:ln>
            <a:noFill/>
          </a:ln>
        </p:spPr>
        <p:txBody>
          <a:bodyPr anchorCtr="0" anchor="t" bIns="0" lIns="0" spcFirstLastPara="1" rIns="0" wrap="square" tIns="0">
            <a:spAutoFit/>
          </a:bodyPr>
          <a:lstStyle>
            <a:lvl1pPr indent="0" lvl="0" marL="88900">
              <a:lnSpc>
                <a:spcPct val="100000"/>
              </a:lnSpc>
              <a:spcBef>
                <a:spcPts val="0"/>
              </a:spcBef>
              <a:buNone/>
              <a:defRPr b="0" i="0" sz="1200">
                <a:solidFill>
                  <a:schemeClr val="dk1"/>
                </a:solidFill>
                <a:latin typeface="Arial"/>
                <a:ea typeface="Arial"/>
                <a:cs typeface="Arial"/>
                <a:sym typeface="Arial"/>
              </a:defRPr>
            </a:lvl1pPr>
            <a:lvl2pPr indent="0" lvl="1" marL="88900">
              <a:lnSpc>
                <a:spcPct val="100000"/>
              </a:lnSpc>
              <a:spcBef>
                <a:spcPts val="0"/>
              </a:spcBef>
              <a:buNone/>
              <a:defRPr b="0" i="0" sz="1200">
                <a:solidFill>
                  <a:schemeClr val="dk1"/>
                </a:solidFill>
                <a:latin typeface="Arial"/>
                <a:ea typeface="Arial"/>
                <a:cs typeface="Arial"/>
                <a:sym typeface="Arial"/>
              </a:defRPr>
            </a:lvl2pPr>
            <a:lvl3pPr indent="0" lvl="2" marL="88900">
              <a:lnSpc>
                <a:spcPct val="100000"/>
              </a:lnSpc>
              <a:spcBef>
                <a:spcPts val="0"/>
              </a:spcBef>
              <a:buNone/>
              <a:defRPr b="0" i="0" sz="1200">
                <a:solidFill>
                  <a:schemeClr val="dk1"/>
                </a:solidFill>
                <a:latin typeface="Arial"/>
                <a:ea typeface="Arial"/>
                <a:cs typeface="Arial"/>
                <a:sym typeface="Arial"/>
              </a:defRPr>
            </a:lvl3pPr>
            <a:lvl4pPr indent="0" lvl="3" marL="88900">
              <a:lnSpc>
                <a:spcPct val="100000"/>
              </a:lnSpc>
              <a:spcBef>
                <a:spcPts val="0"/>
              </a:spcBef>
              <a:buNone/>
              <a:defRPr b="0" i="0" sz="1200">
                <a:solidFill>
                  <a:schemeClr val="dk1"/>
                </a:solidFill>
                <a:latin typeface="Arial"/>
                <a:ea typeface="Arial"/>
                <a:cs typeface="Arial"/>
                <a:sym typeface="Arial"/>
              </a:defRPr>
            </a:lvl4pPr>
            <a:lvl5pPr indent="0" lvl="4" marL="88900">
              <a:lnSpc>
                <a:spcPct val="100000"/>
              </a:lnSpc>
              <a:spcBef>
                <a:spcPts val="0"/>
              </a:spcBef>
              <a:buNone/>
              <a:defRPr b="0" i="0" sz="1200">
                <a:solidFill>
                  <a:schemeClr val="dk1"/>
                </a:solidFill>
                <a:latin typeface="Arial"/>
                <a:ea typeface="Arial"/>
                <a:cs typeface="Arial"/>
                <a:sym typeface="Arial"/>
              </a:defRPr>
            </a:lvl5pPr>
            <a:lvl6pPr indent="0" lvl="5" marL="88900">
              <a:lnSpc>
                <a:spcPct val="100000"/>
              </a:lnSpc>
              <a:spcBef>
                <a:spcPts val="0"/>
              </a:spcBef>
              <a:buNone/>
              <a:defRPr b="0" i="0" sz="1200">
                <a:solidFill>
                  <a:schemeClr val="dk1"/>
                </a:solidFill>
                <a:latin typeface="Arial"/>
                <a:ea typeface="Arial"/>
                <a:cs typeface="Arial"/>
                <a:sym typeface="Arial"/>
              </a:defRPr>
            </a:lvl6pPr>
            <a:lvl7pPr indent="0" lvl="6" marL="88900">
              <a:lnSpc>
                <a:spcPct val="100000"/>
              </a:lnSpc>
              <a:spcBef>
                <a:spcPts val="0"/>
              </a:spcBef>
              <a:buNone/>
              <a:defRPr b="0" i="0" sz="1200">
                <a:solidFill>
                  <a:schemeClr val="dk1"/>
                </a:solidFill>
                <a:latin typeface="Arial"/>
                <a:ea typeface="Arial"/>
                <a:cs typeface="Arial"/>
                <a:sym typeface="Arial"/>
              </a:defRPr>
            </a:lvl7pPr>
            <a:lvl8pPr indent="0" lvl="7" marL="88900">
              <a:lnSpc>
                <a:spcPct val="100000"/>
              </a:lnSpc>
              <a:spcBef>
                <a:spcPts val="0"/>
              </a:spcBef>
              <a:buNone/>
              <a:defRPr b="0" i="0" sz="1200">
                <a:solidFill>
                  <a:schemeClr val="dk1"/>
                </a:solidFill>
                <a:latin typeface="Arial"/>
                <a:ea typeface="Arial"/>
                <a:cs typeface="Arial"/>
                <a:sym typeface="Arial"/>
              </a:defRPr>
            </a:lvl8pPr>
            <a:lvl9pPr indent="0" lvl="8" marL="88900">
              <a:lnSpc>
                <a:spcPct val="100000"/>
              </a:lnSpc>
              <a:spcBef>
                <a:spcPts val="0"/>
              </a:spcBef>
              <a:buNone/>
              <a:defRPr b="0" i="0" sz="1200">
                <a:solidFill>
                  <a:schemeClr val="dk1"/>
                </a:solidFill>
                <a:latin typeface="Arial"/>
                <a:ea typeface="Arial"/>
                <a:cs typeface="Arial"/>
                <a:sym typeface="Arial"/>
              </a:defRPr>
            </a:lvl9pPr>
          </a:lstStyle>
          <a:p>
            <a:pPr indent="0" lvl="0" marL="88900" rtl="0" algn="r">
              <a:spcBef>
                <a:spcPts val="0"/>
              </a:spcBef>
              <a:spcAft>
                <a:spcPts val="0"/>
              </a:spcAft>
              <a:buNone/>
            </a:pPr>
            <a:fld id="{00000000-1234-1234-1234-123412341234}" type="slidenum">
              <a:rPr lang="en-US"/>
              <a:t>‹#›</a:t>
            </a:fld>
            <a:endParaRPr sz="1300">
              <a:solidFill>
                <a:schemeClr val="dk2"/>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p:txBody>
      </p:sp>
      <p:sp>
        <p:nvSpPr>
          <p:cNvPr id="11" name="Google Shape;11;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indent="-323850" lvl="1" marL="914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indent="-323850" lvl="2" marL="1371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indent="-323850" lvl="3" marL="1828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indent="-323850" lvl="4" marL="22860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indent="-323850" lvl="5" marL="27432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indent="-323850" lvl="6" marL="3200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indent="-323850" lvl="7" marL="3657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indent="-323850" lvl="8" marL="4114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p:txBody>
      </p:sp>
      <p:sp>
        <p:nvSpPr>
          <p:cNvPr id="12" name="Google Shape;12;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ctrTitle"/>
          </p:nvPr>
        </p:nvSpPr>
        <p:spPr>
          <a:xfrm>
            <a:off x="415600" y="719633"/>
            <a:ext cx="11360700" cy="17100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rgbClr val="073763"/>
                </a:solidFill>
              </a:rPr>
              <a:t>Identifying Fraud Rings</a:t>
            </a:r>
            <a:endParaRPr>
              <a:solidFill>
                <a:srgbClr val="073763"/>
              </a:solidFill>
            </a:endParaRPr>
          </a:p>
          <a:p>
            <a:pPr indent="0" lvl="0" marL="0" rtl="0" algn="ctr">
              <a:lnSpc>
                <a:spcPct val="90000"/>
              </a:lnSpc>
              <a:spcBef>
                <a:spcPts val="0"/>
              </a:spcBef>
              <a:spcAft>
                <a:spcPts val="0"/>
              </a:spcAft>
              <a:buClr>
                <a:schemeClr val="dk1"/>
              </a:buClr>
              <a:buSzPts val="6000"/>
              <a:buFont typeface="Calibri"/>
              <a:buNone/>
            </a:pPr>
            <a:r>
              <a:rPr lang="en-US">
                <a:solidFill>
                  <a:srgbClr val="073763"/>
                </a:solidFill>
              </a:rPr>
              <a:t>Through Clustering Techniques</a:t>
            </a:r>
            <a:endParaRPr>
              <a:solidFill>
                <a:srgbClr val="073763"/>
              </a:solidFill>
            </a:endParaRPr>
          </a:p>
        </p:txBody>
      </p:sp>
      <p:sp>
        <p:nvSpPr>
          <p:cNvPr id="81" name="Google Shape;81;p15"/>
          <p:cNvSpPr txBox="1"/>
          <p:nvPr>
            <p:ph idx="1" type="subTitle"/>
          </p:nvPr>
        </p:nvSpPr>
        <p:spPr>
          <a:xfrm>
            <a:off x="6119500" y="5380072"/>
            <a:ext cx="5656800" cy="984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solidFill>
                  <a:schemeClr val="lt1"/>
                </a:solidFill>
              </a:rPr>
              <a:t>Ma. Charmagne Cruz</a:t>
            </a:r>
            <a:endParaRPr>
              <a:solidFill>
                <a:schemeClr val="lt1"/>
              </a:solidFill>
            </a:endParaRPr>
          </a:p>
          <a:p>
            <a:pPr indent="0" lvl="0" marL="0" rtl="0" algn="ctr">
              <a:lnSpc>
                <a:spcPct val="90000"/>
              </a:lnSpc>
              <a:spcBef>
                <a:spcPts val="0"/>
              </a:spcBef>
              <a:spcAft>
                <a:spcPts val="0"/>
              </a:spcAft>
              <a:buClr>
                <a:schemeClr val="dk1"/>
              </a:buClr>
              <a:buSzPts val="2400"/>
              <a:buNone/>
            </a:pPr>
            <a:r>
              <a:rPr lang="en-US">
                <a:solidFill>
                  <a:schemeClr val="lt1"/>
                </a:solidFill>
              </a:rPr>
              <a:t>2026 Sep 24</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b="1" lang="en-US" sz="2500"/>
              <a:t>Student Background</a:t>
            </a:r>
            <a:endParaRPr b="1" sz="2500"/>
          </a:p>
        </p:txBody>
      </p:sp>
      <p:pic>
        <p:nvPicPr>
          <p:cNvPr id="88" name="Google Shape;88;p16"/>
          <p:cNvPicPr preferRelativeResize="0"/>
          <p:nvPr/>
        </p:nvPicPr>
        <p:blipFill rotWithShape="1">
          <a:blip r:embed="rId3">
            <a:alphaModFix/>
          </a:blip>
          <a:srcRect b="38253" l="0" r="0" t="0"/>
          <a:stretch/>
        </p:blipFill>
        <p:spPr>
          <a:xfrm>
            <a:off x="7658925" y="2007599"/>
            <a:ext cx="3922900" cy="3893675"/>
          </a:xfrm>
          <a:prstGeom prst="rect">
            <a:avLst/>
          </a:prstGeom>
          <a:noFill/>
          <a:ln>
            <a:noFill/>
          </a:ln>
        </p:spPr>
      </p:pic>
      <p:sp>
        <p:nvSpPr>
          <p:cNvPr id="89" name="Google Shape;89;p16"/>
          <p:cNvSpPr txBox="1"/>
          <p:nvPr>
            <p:ph idx="1" type="body"/>
          </p:nvPr>
        </p:nvSpPr>
        <p:spPr>
          <a:xfrm>
            <a:off x="415600" y="1965150"/>
            <a:ext cx="7154400" cy="4231200"/>
          </a:xfrm>
          <a:prstGeom prst="rect">
            <a:avLst/>
          </a:prstGeom>
        </p:spPr>
        <p:txBody>
          <a:bodyPr anchorCtr="0" anchor="t" bIns="121900" lIns="121900" spcFirstLastPara="1" rIns="121900" wrap="square" tIns="121900">
            <a:normAutofit fontScale="77500" lnSpcReduction="10000"/>
          </a:bodyPr>
          <a:lstStyle/>
          <a:p>
            <a:pPr indent="0" lvl="0" marL="0" rtl="0" algn="l">
              <a:spcBef>
                <a:spcPts val="0"/>
              </a:spcBef>
              <a:spcAft>
                <a:spcPts val="0"/>
              </a:spcAft>
              <a:buNone/>
            </a:pPr>
            <a:r>
              <a:rPr b="1" lang="en-US" sz="1800">
                <a:solidFill>
                  <a:schemeClr val="dk1"/>
                </a:solidFill>
              </a:rPr>
              <a:t>The Experiment</a:t>
            </a:r>
            <a:endParaRPr b="1" sz="1800">
              <a:solidFill>
                <a:schemeClr val="dk1"/>
              </a:solidFill>
            </a:endParaRPr>
          </a:p>
          <a:p>
            <a:pPr indent="0" lvl="0" marL="0" rtl="0" algn="l">
              <a:spcBef>
                <a:spcPts val="1600"/>
              </a:spcBef>
              <a:spcAft>
                <a:spcPts val="0"/>
              </a:spcAft>
              <a:buNone/>
            </a:pPr>
            <a:r>
              <a:rPr lang="en-US" sz="1800">
                <a:solidFill>
                  <a:schemeClr val="dk1"/>
                </a:solidFill>
              </a:rPr>
              <a:t>I lead Business Intelligence in Shopee PH. The company employs many fraud detection tools including existing ML models to identify various fraud types and fraudulent actors.</a:t>
            </a:r>
            <a:endParaRPr sz="1800">
              <a:solidFill>
                <a:schemeClr val="dk1"/>
              </a:solidFill>
            </a:endParaRPr>
          </a:p>
          <a:p>
            <a:pPr indent="0" lvl="0" marL="0" rtl="0" algn="l">
              <a:spcBef>
                <a:spcPts val="1600"/>
              </a:spcBef>
              <a:spcAft>
                <a:spcPts val="0"/>
              </a:spcAft>
              <a:buNone/>
            </a:pPr>
            <a:r>
              <a:rPr lang="en-US" sz="1800">
                <a:solidFill>
                  <a:schemeClr val="dk1"/>
                </a:solidFill>
              </a:rPr>
              <a:t>In 2025, our BI and Fraud Team deployed a clustering-based fraud-ring detection that automated a task previously consuming ~40% of agents' review time. The project cut that task from 7 hours to about 10 minutes (98% time savings). </a:t>
            </a:r>
            <a:endParaRPr sz="1800">
              <a:solidFill>
                <a:schemeClr val="dk1"/>
              </a:solidFill>
            </a:endParaRPr>
          </a:p>
          <a:p>
            <a:pPr indent="0" lvl="0" marL="0" rtl="0" algn="l">
              <a:spcBef>
                <a:spcPts val="1600"/>
              </a:spcBef>
              <a:spcAft>
                <a:spcPts val="0"/>
              </a:spcAft>
              <a:buNone/>
            </a:pPr>
            <a:r>
              <a:rPr lang="en-US" sz="1800">
                <a:solidFill>
                  <a:schemeClr val="dk1"/>
                </a:solidFill>
              </a:rPr>
              <a:t>This capstone doesn't test whether clustering can find fraud, that's already standard practice.</a:t>
            </a:r>
            <a:r>
              <a:rPr i="1" lang="en-US" sz="1800">
                <a:solidFill>
                  <a:schemeClr val="dk1"/>
                </a:solidFill>
              </a:rPr>
              <a:t> </a:t>
            </a:r>
            <a:endParaRPr i="1" sz="1800">
              <a:solidFill>
                <a:schemeClr val="dk1"/>
              </a:solidFill>
            </a:endParaRPr>
          </a:p>
          <a:p>
            <a:pPr indent="0" lvl="0" marL="0" rtl="0" algn="l">
              <a:spcBef>
                <a:spcPts val="1600"/>
              </a:spcBef>
              <a:spcAft>
                <a:spcPts val="0"/>
              </a:spcAft>
              <a:buNone/>
            </a:pPr>
            <a:r>
              <a:rPr b="1" lang="en-US" sz="1800">
                <a:solidFill>
                  <a:schemeClr val="dk1"/>
                </a:solidFill>
              </a:rPr>
              <a:t>It tests whether a clustering result actually holds up once validated on data it hasn't seen, since the same technique that worked at Shopee could just as easily be a coincidence of that specific dataset.</a:t>
            </a:r>
            <a:endParaRPr b="1" sz="1800">
              <a:solidFill>
                <a:schemeClr val="dk1"/>
              </a:solidFill>
            </a:endParaRPr>
          </a:p>
          <a:p>
            <a:pPr indent="0" lvl="0" marL="0" rtl="0" algn="l">
              <a:spcBef>
                <a:spcPts val="1600"/>
              </a:spcBef>
              <a:spcAft>
                <a:spcPts val="1600"/>
              </a:spcAft>
              <a:buNone/>
            </a:pPr>
            <a:r>
              <a:rPr lang="en-US" sz="1800">
                <a:solidFill>
                  <a:schemeClr val="dk1"/>
                </a:solidFill>
              </a:rPr>
              <a:t>The IEEE-CIS Fraud Detection dataset (Kaggle) serves as an independent, real-world testbed to find out.</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aphicFrame>
        <p:nvGraphicFramePr>
          <p:cNvPr id="95" name="Google Shape;95;p17"/>
          <p:cNvGraphicFramePr/>
          <p:nvPr/>
        </p:nvGraphicFramePr>
        <p:xfrm>
          <a:off x="949441" y="1152037"/>
          <a:ext cx="3000000" cy="3000000"/>
        </p:xfrm>
        <a:graphic>
          <a:graphicData uri="http://schemas.openxmlformats.org/drawingml/2006/table">
            <a:tbl>
              <a:tblPr>
                <a:noFill/>
                <a:tableStyleId>{CC07E2D5-45CF-41F3-9BAA-CD93C9260602}</a:tableStyleId>
              </a:tblPr>
              <a:tblGrid>
                <a:gridCol w="1305800"/>
                <a:gridCol w="9098550"/>
              </a:tblGrid>
              <a:tr h="1767975">
                <a:tc>
                  <a:txBody>
                    <a:bodyPr/>
                    <a:lstStyle/>
                    <a:p>
                      <a:pPr indent="0" lvl="0" marL="0" rtl="0" algn="l">
                        <a:spcBef>
                          <a:spcPts val="0"/>
                        </a:spcBef>
                        <a:spcAft>
                          <a:spcPts val="0"/>
                        </a:spcAft>
                        <a:buNone/>
                      </a:pPr>
                      <a:r>
                        <a:rPr b="1" lang="en-US" sz="1500">
                          <a:solidFill>
                            <a:srgbClr val="0B1F3A"/>
                          </a:solidFill>
                          <a:latin typeface="Roboto"/>
                          <a:ea typeface="Roboto"/>
                          <a:cs typeface="Roboto"/>
                          <a:sym typeface="Roboto"/>
                        </a:rPr>
                        <a:t>Business Context &amp; Problem</a:t>
                      </a:r>
                      <a:endParaRPr b="1" sz="15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c>
                  <a:txBody>
                    <a:bodyPr/>
                    <a:lstStyle/>
                    <a:p>
                      <a:pPr indent="0" lvl="0" marL="0" rtl="0" algn="just">
                        <a:spcBef>
                          <a:spcPts val="0"/>
                        </a:spcBef>
                        <a:spcAft>
                          <a:spcPts val="0"/>
                        </a:spcAft>
                        <a:buNone/>
                      </a:pPr>
                      <a:r>
                        <a:rPr lang="en-US" sz="1500">
                          <a:latin typeface="Roboto"/>
                          <a:ea typeface="Roboto"/>
                          <a:cs typeface="Roboto"/>
                          <a:sym typeface="Roboto"/>
                        </a:rPr>
                        <a:t>Philippine business leaders reported estimated fraud losses of ₱4 trillion over the past year (TransUnion, 2025). It increasingly shows up as coordinated fraud rings, not lone bad actors. </a:t>
                      </a:r>
                      <a:endParaRPr sz="1500">
                        <a:latin typeface="Roboto"/>
                        <a:ea typeface="Roboto"/>
                        <a:cs typeface="Roboto"/>
                        <a:sym typeface="Roboto"/>
                      </a:endParaRPr>
                    </a:p>
                    <a:p>
                      <a:pPr indent="0" lvl="0" marL="0" rtl="0" algn="just">
                        <a:spcBef>
                          <a:spcPts val="0"/>
                        </a:spcBef>
                        <a:spcAft>
                          <a:spcPts val="0"/>
                        </a:spcAft>
                        <a:buNone/>
                      </a:pPr>
                      <a:r>
                        <a:t/>
                      </a:r>
                      <a:endParaRPr sz="1500">
                        <a:latin typeface="Roboto"/>
                        <a:ea typeface="Roboto"/>
                        <a:cs typeface="Roboto"/>
                        <a:sym typeface="Roboto"/>
                      </a:endParaRPr>
                    </a:p>
                    <a:p>
                      <a:pPr indent="0" lvl="0" marL="0" rtl="0" algn="just">
                        <a:spcBef>
                          <a:spcPts val="0"/>
                        </a:spcBef>
                        <a:spcAft>
                          <a:spcPts val="0"/>
                        </a:spcAft>
                        <a:buNone/>
                      </a:pPr>
                      <a:r>
                        <a:rPr lang="en-US" sz="1500">
                          <a:latin typeface="Roboto"/>
                          <a:ea typeface="Roboto"/>
                          <a:cs typeface="Roboto"/>
                          <a:sym typeface="Roboto"/>
                        </a:rPr>
                        <a:t>The IEEE-CIS dataset frames this exact tension: </a:t>
                      </a:r>
                      <a:r>
                        <a:rPr b="1" lang="en-US" sz="1500">
                          <a:latin typeface="Roboto"/>
                          <a:ea typeface="Roboto"/>
                          <a:cs typeface="Roboto"/>
                          <a:sym typeface="Roboto"/>
                        </a:rPr>
                        <a:t>Vesta Corp's stated goal was to (1) catch more real fraud (true positives) while (2) reducing false declines (false positives) </a:t>
                      </a:r>
                      <a:r>
                        <a:rPr lang="en-US" sz="1500">
                          <a:latin typeface="Roboto"/>
                          <a:ea typeface="Roboto"/>
                          <a:cs typeface="Roboto"/>
                          <a:sym typeface="Roboto"/>
                        </a:rPr>
                        <a:t>among legitimate customers.</a:t>
                      </a:r>
                      <a:r>
                        <a:rPr b="1" lang="en-US" sz="1500">
                          <a:latin typeface="Roboto"/>
                          <a:ea typeface="Roboto"/>
                          <a:cs typeface="Roboto"/>
                          <a:sym typeface="Roboto"/>
                        </a:rPr>
                        <a:t> </a:t>
                      </a:r>
                      <a:r>
                        <a:rPr lang="en-US" sz="1500">
                          <a:latin typeface="Roboto"/>
                          <a:ea typeface="Roboto"/>
                          <a:cs typeface="Roboto"/>
                          <a:sym typeface="Roboto"/>
                        </a:rPr>
                        <a:t>This is the same two-sided problem Shopee's fraud team lives with daily. </a:t>
                      </a:r>
                      <a:endParaRPr sz="1500">
                        <a:latin typeface="Roboto"/>
                        <a:ea typeface="Roboto"/>
                        <a:cs typeface="Roboto"/>
                        <a:sym typeface="Roboto"/>
                      </a:endParaRPr>
                    </a:p>
                    <a:p>
                      <a:pPr indent="0" lvl="0" marL="0" rtl="0" algn="just">
                        <a:spcBef>
                          <a:spcPts val="0"/>
                        </a:spcBef>
                        <a:spcAft>
                          <a:spcPts val="0"/>
                        </a:spcAft>
                        <a:buNone/>
                      </a:pPr>
                      <a:r>
                        <a:t/>
                      </a:r>
                      <a:endParaRPr sz="15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r>
              <a:tr h="1533250">
                <a:tc>
                  <a:txBody>
                    <a:bodyPr/>
                    <a:lstStyle/>
                    <a:p>
                      <a:pPr indent="0" lvl="0" marL="0" rtl="0" algn="l">
                        <a:spcBef>
                          <a:spcPts val="0"/>
                        </a:spcBef>
                        <a:spcAft>
                          <a:spcPts val="0"/>
                        </a:spcAft>
                        <a:buNone/>
                      </a:pPr>
                      <a:r>
                        <a:rPr b="1" lang="en-US" sz="1500">
                          <a:solidFill>
                            <a:srgbClr val="0B1F3A"/>
                          </a:solidFill>
                          <a:latin typeface="Roboto"/>
                          <a:ea typeface="Roboto"/>
                          <a:cs typeface="Roboto"/>
                          <a:sym typeface="Roboto"/>
                        </a:rPr>
                        <a:t>Objective</a:t>
                      </a:r>
                      <a:endParaRPr b="1" sz="15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c>
                  <a:txBody>
                    <a:bodyPr/>
                    <a:lstStyle/>
                    <a:p>
                      <a:pPr indent="-323850" lvl="0" marL="457200" rtl="0" algn="l">
                        <a:spcBef>
                          <a:spcPts val="0"/>
                        </a:spcBef>
                        <a:spcAft>
                          <a:spcPts val="0"/>
                        </a:spcAft>
                        <a:buSzPts val="1500"/>
                        <a:buFont typeface="Roboto"/>
                        <a:buChar char="●"/>
                      </a:pPr>
                      <a:r>
                        <a:rPr lang="en-US" sz="1500">
                          <a:latin typeface="Roboto"/>
                          <a:ea typeface="Roboto"/>
                          <a:cs typeface="Roboto"/>
                          <a:sym typeface="Roboto"/>
                        </a:rPr>
                        <a:t>Group transactions into clusters by similarity alone, using K-Means, DBSCAN, and Hierarchical clustering.</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US" sz="1500">
                          <a:latin typeface="Roboto"/>
                          <a:ea typeface="Roboto"/>
                          <a:cs typeface="Roboto"/>
                          <a:sym typeface="Roboto"/>
                        </a:rPr>
                        <a:t>Never use the fraud label during clustering.</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US" sz="1500">
                          <a:latin typeface="Roboto"/>
                          <a:ea typeface="Roboto"/>
                          <a:cs typeface="Roboto"/>
                          <a:sym typeface="Roboto"/>
                        </a:rPr>
                        <a:t>Test afterward whether clusters concentrate real fraud above baseline, including on an 80/20 evaluation split (K-Means and DBSCAN only).</a:t>
                      </a:r>
                      <a:endParaRPr sz="1500">
                        <a:latin typeface="Roboto"/>
                        <a:ea typeface="Roboto"/>
                        <a:cs typeface="Roboto"/>
                        <a:sym typeface="Roboto"/>
                      </a:endParaRPr>
                    </a:p>
                    <a:p>
                      <a:pPr indent="0" lvl="0" marL="457200" rtl="0" algn="l">
                        <a:spcBef>
                          <a:spcPts val="0"/>
                        </a:spcBef>
                        <a:spcAft>
                          <a:spcPts val="0"/>
                        </a:spcAft>
                        <a:buNone/>
                      </a:pPr>
                      <a:r>
                        <a:t/>
                      </a:r>
                      <a:endParaRPr sz="15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r>
              <a:tr h="1063875">
                <a:tc>
                  <a:txBody>
                    <a:bodyPr/>
                    <a:lstStyle/>
                    <a:p>
                      <a:pPr indent="0" lvl="0" marL="0" rtl="0" algn="l">
                        <a:spcBef>
                          <a:spcPts val="0"/>
                        </a:spcBef>
                        <a:spcAft>
                          <a:spcPts val="0"/>
                        </a:spcAft>
                        <a:buNone/>
                      </a:pPr>
                      <a:r>
                        <a:rPr b="1" lang="en-US" sz="1500">
                          <a:solidFill>
                            <a:srgbClr val="0B1F3A"/>
                          </a:solidFill>
                          <a:latin typeface="Roboto"/>
                          <a:ea typeface="Roboto"/>
                          <a:cs typeface="Roboto"/>
                          <a:sym typeface="Roboto"/>
                        </a:rPr>
                        <a:t>Main Results</a:t>
                      </a:r>
                      <a:endParaRPr b="1" sz="15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c>
                  <a:txBody>
                    <a:bodyPr/>
                    <a:lstStyle/>
                    <a:p>
                      <a:pPr indent="-323850" lvl="0" marL="457200" rtl="0" algn="l">
                        <a:spcBef>
                          <a:spcPts val="0"/>
                        </a:spcBef>
                        <a:spcAft>
                          <a:spcPts val="0"/>
                        </a:spcAft>
                        <a:buSzPts val="1500"/>
                        <a:buFont typeface="Roboto"/>
                        <a:buChar char="●"/>
                      </a:pPr>
                      <a:r>
                        <a:rPr lang="en-US" sz="1500">
                          <a:latin typeface="Roboto"/>
                          <a:ea typeface="Roboto"/>
                          <a:cs typeface="Roboto"/>
                          <a:sym typeface="Roboto"/>
                        </a:rPr>
                        <a:t>The clustering results show encouraging fraud concentration, with important validation caveats.</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US" sz="1500">
                          <a:latin typeface="Roboto"/>
                          <a:ea typeface="Roboto"/>
                          <a:cs typeface="Roboto"/>
                          <a:sym typeface="Roboto"/>
                        </a:rPr>
                        <a:t>DBSCAN remained in the 8–10x baseline range on the evaluation split, while K-Means’s stronger in-sample result fell to roughly 3x baseline.</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US" sz="1500">
                          <a:latin typeface="Roboto"/>
                          <a:ea typeface="Roboto"/>
                          <a:cs typeface="Roboto"/>
                          <a:sym typeface="Roboto"/>
                        </a:rPr>
                        <a:t>This was a holdout-oriented robustness check, not fully leakage-free production validation.</a:t>
                      </a:r>
                      <a:endParaRPr sz="1500">
                        <a:latin typeface="Roboto"/>
                        <a:ea typeface="Roboto"/>
                        <a:cs typeface="Roboto"/>
                        <a:sym typeface="Roboto"/>
                      </a:endParaRPr>
                    </a:p>
                    <a:p>
                      <a:pPr indent="0" lvl="0" marL="457200" rtl="0" algn="l">
                        <a:spcBef>
                          <a:spcPts val="0"/>
                        </a:spcBef>
                        <a:spcAft>
                          <a:spcPts val="0"/>
                        </a:spcAft>
                        <a:buNone/>
                      </a:pPr>
                      <a:r>
                        <a:t/>
                      </a:r>
                      <a:endParaRPr sz="15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r>
              <a:tr h="829175">
                <a:tc>
                  <a:txBody>
                    <a:bodyPr/>
                    <a:lstStyle/>
                    <a:p>
                      <a:pPr indent="0" lvl="0" marL="0" rtl="0" algn="l">
                        <a:spcBef>
                          <a:spcPts val="0"/>
                        </a:spcBef>
                        <a:spcAft>
                          <a:spcPts val="0"/>
                        </a:spcAft>
                        <a:buNone/>
                      </a:pPr>
                      <a:r>
                        <a:rPr b="1" lang="en-US" sz="1500">
                          <a:solidFill>
                            <a:srgbClr val="0B1F3A"/>
                          </a:solidFill>
                          <a:latin typeface="Roboto"/>
                          <a:ea typeface="Roboto"/>
                          <a:cs typeface="Roboto"/>
                          <a:sym typeface="Roboto"/>
                        </a:rPr>
                        <a:t>Impact</a:t>
                      </a:r>
                      <a:endParaRPr b="1" sz="15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Roboto"/>
                          <a:ea typeface="Roboto"/>
                          <a:cs typeface="Roboto"/>
                          <a:sym typeface="Roboto"/>
                        </a:rPr>
                        <a:t>Even a 1-point fraud-rate reduction can have meaningful revenue impact at financial institutions and ecommerce platforms due to their transaction volume. </a:t>
                      </a:r>
                      <a:endParaRPr sz="15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tcPr>
                </a:tc>
              </a:tr>
            </a:tbl>
          </a:graphicData>
        </a:graphic>
      </p:graphicFrame>
      <p:sp>
        <p:nvSpPr>
          <p:cNvPr id="96" name="Google Shape;96;p17"/>
          <p:cNvSpPr txBox="1"/>
          <p:nvPr>
            <p:ph type="title"/>
          </p:nvPr>
        </p:nvSpPr>
        <p:spPr>
          <a:xfrm>
            <a:off x="838200" y="365125"/>
            <a:ext cx="10515600" cy="71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2500">
                <a:solidFill>
                  <a:srgbClr val="073763"/>
                </a:solidFill>
              </a:rPr>
              <a:t>Executive Summary  </a:t>
            </a:r>
            <a:endParaRPr b="1" sz="2500">
              <a:solidFill>
                <a:srgbClr val="07376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990"/>
              <a:buNone/>
            </a:pPr>
            <a:r>
              <a:rPr b="1" lang="en-US" sz="2530">
                <a:solidFill>
                  <a:srgbClr val="073763"/>
                </a:solidFill>
              </a:rPr>
              <a:t>Business Problem and Context |</a:t>
            </a:r>
            <a:r>
              <a:rPr lang="en-US" sz="2530">
                <a:solidFill>
                  <a:srgbClr val="073763"/>
                </a:solidFill>
              </a:rPr>
              <a:t> </a:t>
            </a:r>
            <a:endParaRPr sz="2530">
              <a:solidFill>
                <a:srgbClr val="073763"/>
              </a:solidFill>
            </a:endParaRPr>
          </a:p>
          <a:p>
            <a:pPr indent="0" lvl="0" marL="0" rtl="0" algn="l">
              <a:lnSpc>
                <a:spcPct val="115000"/>
              </a:lnSpc>
              <a:spcBef>
                <a:spcPts val="0"/>
              </a:spcBef>
              <a:spcAft>
                <a:spcPts val="0"/>
              </a:spcAft>
              <a:buSzPts val="990"/>
              <a:buNone/>
            </a:pPr>
            <a:r>
              <a:rPr lang="en-US" sz="2530">
                <a:solidFill>
                  <a:srgbClr val="073763"/>
                </a:solidFill>
              </a:rPr>
              <a:t>Exec Summary gave the headline and now we can unpack it</a:t>
            </a:r>
            <a:endParaRPr sz="2530">
              <a:solidFill>
                <a:srgbClr val="073763"/>
              </a:solidFill>
            </a:endParaRPr>
          </a:p>
        </p:txBody>
      </p:sp>
      <p:sp>
        <p:nvSpPr>
          <p:cNvPr id="103" name="Google Shape;103;p18"/>
          <p:cNvSpPr txBox="1"/>
          <p:nvPr>
            <p:ph idx="1" type="body"/>
          </p:nvPr>
        </p:nvSpPr>
        <p:spPr>
          <a:xfrm>
            <a:off x="838200" y="1624275"/>
            <a:ext cx="10515600" cy="45525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600">
                <a:solidFill>
                  <a:srgbClr val="073763"/>
                </a:solidFill>
              </a:rPr>
              <a:t>Business Problem</a:t>
            </a:r>
            <a:endParaRPr b="1" sz="1600">
              <a:solidFill>
                <a:srgbClr val="073763"/>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A legitimate customer's card gets declined at checkout because a fraud model flagged it. </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Impact: friction in the process, lost sales, damaged trust.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A genuinely fraudulent transaction slips through</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Impact: direct cost to the platform.</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Vesta's (and Shopee's) goal is both at once: </a:t>
            </a:r>
            <a:r>
              <a:rPr b="1" lang="en-US" sz="1600">
                <a:solidFill>
                  <a:schemeClr val="dk1"/>
                </a:solidFill>
              </a:rPr>
              <a:t>increase true positives, decrease false positives</a:t>
            </a:r>
            <a:r>
              <a:rPr lang="en-US" sz="1600">
                <a:solidFill>
                  <a:schemeClr val="dk1"/>
                </a:solidFill>
              </a:rPr>
              <a:t>. Optimizing only one makes the other worse.</a:t>
            </a:r>
            <a:endParaRPr sz="1600">
              <a:solidFill>
                <a:schemeClr val="dk1"/>
              </a:solidFill>
            </a:endParaRPr>
          </a:p>
          <a:p>
            <a:pPr indent="0" lvl="0" marL="0" rtl="0" algn="l">
              <a:lnSpc>
                <a:spcPct val="115000"/>
              </a:lnSpc>
              <a:spcBef>
                <a:spcPts val="0"/>
              </a:spcBef>
              <a:spcAft>
                <a:spcPts val="0"/>
              </a:spcAft>
              <a:buNone/>
            </a:pPr>
            <a:r>
              <a:t/>
            </a:r>
            <a:endParaRPr b="1" sz="1600">
              <a:solidFill>
                <a:schemeClr val="dk1"/>
              </a:solidFill>
            </a:endParaRPr>
          </a:p>
          <a:p>
            <a:pPr indent="0" lvl="0" marL="0" rtl="0" algn="l">
              <a:lnSpc>
                <a:spcPct val="115000"/>
              </a:lnSpc>
              <a:spcBef>
                <a:spcPts val="0"/>
              </a:spcBef>
              <a:spcAft>
                <a:spcPts val="0"/>
              </a:spcAft>
              <a:buNone/>
            </a:pPr>
            <a:r>
              <a:rPr b="1" lang="en-US" sz="1600">
                <a:solidFill>
                  <a:srgbClr val="073763"/>
                </a:solidFill>
              </a:rPr>
              <a:t>Data Science Problem</a:t>
            </a:r>
            <a:endParaRPr b="1" sz="1600">
              <a:solidFill>
                <a:srgbClr val="073763"/>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The real bottleneck isn't one bad transaction, it's fraud rings: </a:t>
            </a:r>
            <a:r>
              <a:rPr b="1" lang="en-US" sz="1600">
                <a:solidFill>
                  <a:schemeClr val="dk1"/>
                </a:solidFill>
              </a:rPr>
              <a:t>linked accounts working together</a:t>
            </a:r>
            <a:r>
              <a:rPr lang="en-US" sz="1600">
                <a:solidFill>
                  <a:schemeClr val="dk1"/>
                </a:solidFill>
              </a:rPr>
              <a:t>.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This machine learning question: </a:t>
            </a:r>
            <a:r>
              <a:rPr b="1" lang="en-US" sz="1600">
                <a:solidFill>
                  <a:schemeClr val="dk1"/>
                </a:solidFill>
              </a:rPr>
              <a:t>Can transactions be grouped into clusters that correspond to the same client, without using the fraud label to form the clusters? </a:t>
            </a:r>
            <a:endParaRPr b="1" sz="1600">
              <a:solidFill>
                <a:schemeClr val="dk1"/>
              </a:solidFill>
            </a:endParaRPr>
          </a:p>
          <a:p>
            <a:pPr indent="-317500" lvl="1" marL="914400" rtl="0" algn="l">
              <a:lnSpc>
                <a:spcPct val="115000"/>
              </a:lnSpc>
              <a:spcBef>
                <a:spcPts val="0"/>
              </a:spcBef>
              <a:spcAft>
                <a:spcPts val="0"/>
              </a:spcAft>
              <a:buClr>
                <a:schemeClr val="dk1"/>
              </a:buClr>
              <a:buSzPts val="1400"/>
              <a:buChar char="○"/>
            </a:pPr>
            <a:r>
              <a:rPr i="1" lang="en-US" sz="1400">
                <a:solidFill>
                  <a:schemeClr val="dk1"/>
                </a:solidFill>
              </a:rPr>
              <a:t>The dataset already had fraud labels, but they're used only for validation, not clustering; therefore testing whether the same method would work on future fraud rings with no labels to learn from yet.</a:t>
            </a:r>
            <a:endParaRPr i="1" sz="1400">
              <a:solidFill>
                <a:schemeClr val="dk1"/>
              </a:solidFill>
            </a:endParaRPr>
          </a:p>
          <a:p>
            <a:pPr indent="-336550" lvl="1" marL="914400" rtl="0" algn="l">
              <a:lnSpc>
                <a:spcPct val="115000"/>
              </a:lnSpc>
              <a:spcBef>
                <a:spcPts val="0"/>
              </a:spcBef>
              <a:spcAft>
                <a:spcPts val="0"/>
              </a:spcAft>
              <a:buClr>
                <a:schemeClr val="dk1"/>
              </a:buClr>
              <a:buSzPts val="1700"/>
              <a:buChar char="○"/>
            </a:pPr>
            <a:r>
              <a:rPr i="1" lang="en-US" sz="1400">
                <a:solidFill>
                  <a:schemeClr val="dk1"/>
                </a:solidFill>
              </a:rPr>
              <a:t>Because the dataset has no ground-truth client or fraud-ring identifier, this analysis measures fraud concentration. It does not prove that each cluster represents one underlying client.</a:t>
            </a:r>
            <a:endParaRPr i="1"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838200" y="365125"/>
            <a:ext cx="10320300" cy="13257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US" sz="2500">
                <a:solidFill>
                  <a:srgbClr val="073763"/>
                </a:solidFill>
              </a:rPr>
              <a:t>Data Source and Processed Results |</a:t>
            </a:r>
            <a:r>
              <a:rPr lang="en-US" sz="2500">
                <a:solidFill>
                  <a:srgbClr val="073763"/>
                </a:solidFill>
              </a:rPr>
              <a:t>From raw dataset to model-ready representation and Hopkins 0.981 suggested real cluster structure</a:t>
            </a:r>
            <a:endParaRPr sz="2500">
              <a:solidFill>
                <a:srgbClr val="073763"/>
              </a:solidFill>
            </a:endParaRPr>
          </a:p>
        </p:txBody>
      </p:sp>
      <p:sp>
        <p:nvSpPr>
          <p:cNvPr id="110" name="Google Shape;110;p19"/>
          <p:cNvSpPr txBox="1"/>
          <p:nvPr>
            <p:ph idx="1" type="body"/>
          </p:nvPr>
        </p:nvSpPr>
        <p:spPr>
          <a:xfrm>
            <a:off x="838200" y="1554075"/>
            <a:ext cx="5829300" cy="50088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None/>
            </a:pPr>
            <a:r>
              <a:rPr b="1" lang="en-US" sz="1600">
                <a:solidFill>
                  <a:srgbClr val="073763"/>
                </a:solidFill>
              </a:rPr>
              <a:t>Before/Raw:</a:t>
            </a:r>
            <a:endParaRPr b="1" sz="1600">
              <a:solidFill>
                <a:srgbClr val="073763"/>
              </a:solidFill>
            </a:endParaRPr>
          </a:p>
          <a:p>
            <a:pPr indent="-323850" lvl="0" marL="457200" rtl="0" algn="l">
              <a:lnSpc>
                <a:spcPct val="115000"/>
              </a:lnSpc>
              <a:spcBef>
                <a:spcPts val="1200"/>
              </a:spcBef>
              <a:spcAft>
                <a:spcPts val="0"/>
              </a:spcAft>
              <a:buClr>
                <a:srgbClr val="000000"/>
              </a:buClr>
              <a:buSzPts val="1500"/>
              <a:buFont typeface="Roboto"/>
              <a:buChar char="●"/>
            </a:pPr>
            <a:r>
              <a:rPr lang="en-US" sz="1500">
                <a:solidFill>
                  <a:srgbClr val="000000"/>
                </a:solidFill>
              </a:rPr>
              <a:t>~590K Vesta Corp transactions, </a:t>
            </a:r>
            <a:r>
              <a:rPr b="1" lang="en-US" sz="1500">
                <a:solidFill>
                  <a:srgbClr val="000000"/>
                </a:solidFill>
              </a:rPr>
              <a:t>434</a:t>
            </a:r>
            <a:r>
              <a:rPr lang="en-US" sz="1500">
                <a:solidFill>
                  <a:srgbClr val="000000"/>
                </a:solidFill>
              </a:rPr>
              <a:t> raw fields</a:t>
            </a:r>
            <a:endParaRPr sz="1500">
              <a:solidFill>
                <a:srgbClr val="000000"/>
              </a:solidFill>
            </a:endParaRPr>
          </a:p>
          <a:p>
            <a:pPr indent="-323850" lvl="0" marL="457200" rtl="0" algn="l">
              <a:lnSpc>
                <a:spcPct val="115000"/>
              </a:lnSpc>
              <a:spcBef>
                <a:spcPts val="0"/>
              </a:spcBef>
              <a:spcAft>
                <a:spcPts val="0"/>
              </a:spcAft>
              <a:buClr>
                <a:srgbClr val="000000"/>
              </a:buClr>
              <a:buSzPts val="1500"/>
              <a:buFont typeface="Roboto"/>
              <a:buChar char="●"/>
            </a:pPr>
            <a:r>
              <a:rPr lang="en-US" sz="1500">
                <a:solidFill>
                  <a:srgbClr val="000000"/>
                </a:solidFill>
              </a:rPr>
              <a:t>~3.5% fraud rate (matching real-world incidence)</a:t>
            </a:r>
            <a:endParaRPr sz="1500">
              <a:solidFill>
                <a:srgbClr val="000000"/>
              </a:solidFill>
            </a:endParaRPr>
          </a:p>
          <a:p>
            <a:pPr indent="-323850" lvl="0" marL="457200" rtl="0" algn="l">
              <a:lnSpc>
                <a:spcPct val="115000"/>
              </a:lnSpc>
              <a:spcBef>
                <a:spcPts val="0"/>
              </a:spcBef>
              <a:spcAft>
                <a:spcPts val="0"/>
              </a:spcAft>
              <a:buClr>
                <a:srgbClr val="000000"/>
              </a:buClr>
              <a:buSzPts val="1500"/>
              <a:buFont typeface="Roboto"/>
              <a:buChar char="●"/>
            </a:pPr>
            <a:r>
              <a:rPr lang="en-US" sz="1500">
                <a:solidFill>
                  <a:srgbClr val="000000"/>
                </a:solidFill>
              </a:rPr>
              <a:t>~76% missing identity/device data</a:t>
            </a:r>
            <a:endParaRPr sz="1500">
              <a:solidFill>
                <a:srgbClr val="000000"/>
              </a:solidFill>
            </a:endParaRPr>
          </a:p>
          <a:p>
            <a:pPr indent="-323850" lvl="0" marL="457200" rtl="0" algn="l">
              <a:lnSpc>
                <a:spcPct val="115000"/>
              </a:lnSpc>
              <a:spcBef>
                <a:spcPts val="0"/>
              </a:spcBef>
              <a:spcAft>
                <a:spcPts val="0"/>
              </a:spcAft>
              <a:buClr>
                <a:srgbClr val="000000"/>
              </a:buClr>
              <a:buSzPts val="1500"/>
              <a:buFont typeface="Roboto"/>
              <a:buChar char="●"/>
            </a:pPr>
            <a:r>
              <a:rPr lang="en-US" sz="1500">
                <a:solidFill>
                  <a:srgbClr val="000000"/>
                </a:solidFill>
              </a:rPr>
              <a:t>Skewed, redundant, unscaled</a:t>
            </a:r>
            <a:endParaRPr sz="1500">
              <a:solidFill>
                <a:srgbClr val="000000"/>
              </a:solidFill>
            </a:endParaRPr>
          </a:p>
          <a:p>
            <a:pPr indent="0" lvl="0" marL="0" rtl="0" algn="l">
              <a:lnSpc>
                <a:spcPct val="115000"/>
              </a:lnSpc>
              <a:spcBef>
                <a:spcPts val="1200"/>
              </a:spcBef>
              <a:spcAft>
                <a:spcPts val="0"/>
              </a:spcAft>
              <a:buNone/>
            </a:pPr>
            <a:r>
              <a:rPr b="1" lang="en-US" sz="1600">
                <a:solidFill>
                  <a:srgbClr val="073763"/>
                </a:solidFill>
              </a:rPr>
              <a:t>After/Processed: </a:t>
            </a:r>
            <a:endParaRPr b="1" sz="1600">
              <a:solidFill>
                <a:srgbClr val="073763"/>
              </a:solidFill>
            </a:endParaRPr>
          </a:p>
          <a:p>
            <a:pPr indent="-323850" lvl="0" marL="457200" rtl="0" algn="l">
              <a:lnSpc>
                <a:spcPct val="115000"/>
              </a:lnSpc>
              <a:spcBef>
                <a:spcPts val="1200"/>
              </a:spcBef>
              <a:spcAft>
                <a:spcPts val="0"/>
              </a:spcAft>
              <a:buClr>
                <a:srgbClr val="000000"/>
              </a:buClr>
              <a:buSzPts val="1500"/>
              <a:buFont typeface="Roboto"/>
              <a:buChar char="●"/>
            </a:pPr>
            <a:r>
              <a:rPr lang="en-US" sz="1500">
                <a:solidFill>
                  <a:srgbClr val="000000"/>
                </a:solidFill>
              </a:rPr>
              <a:t>434 raw columns → 424 after sparse-column removal → 462 after feature engineering → 271 selected features → 102 PCA components</a:t>
            </a:r>
            <a:endParaRPr sz="1500">
              <a:solidFill>
                <a:srgbClr val="000000"/>
              </a:solidFill>
            </a:endParaRPr>
          </a:p>
          <a:p>
            <a:pPr indent="-323850" lvl="0" marL="457200" rtl="0" algn="l">
              <a:lnSpc>
                <a:spcPct val="115000"/>
              </a:lnSpc>
              <a:spcBef>
                <a:spcPts val="0"/>
              </a:spcBef>
              <a:spcAft>
                <a:spcPts val="0"/>
              </a:spcAft>
              <a:buClr>
                <a:srgbClr val="000000"/>
              </a:buClr>
              <a:buSzPts val="1500"/>
              <a:buFont typeface="Roboto"/>
              <a:buChar char="●"/>
            </a:pPr>
            <a:r>
              <a:rPr b="1" lang="en-US" sz="1500">
                <a:solidFill>
                  <a:srgbClr val="000000"/>
                </a:solidFill>
              </a:rPr>
              <a:t>Missingness kept as a signal</a:t>
            </a:r>
            <a:endParaRPr sz="1500">
              <a:solidFill>
                <a:srgbClr val="000000"/>
              </a:solidFill>
            </a:endParaRPr>
          </a:p>
          <a:p>
            <a:pPr indent="-323850" lvl="1" marL="914400" rtl="0" algn="l">
              <a:lnSpc>
                <a:spcPct val="115000"/>
              </a:lnSpc>
              <a:spcBef>
                <a:spcPts val="0"/>
              </a:spcBef>
              <a:spcAft>
                <a:spcPts val="0"/>
              </a:spcAft>
              <a:buClr>
                <a:srgbClr val="000000"/>
              </a:buClr>
              <a:buSzPts val="1500"/>
              <a:buFont typeface="Arial"/>
              <a:buChar char="○"/>
            </a:pPr>
            <a:r>
              <a:rPr lang="en-US">
                <a:solidFill>
                  <a:srgbClr val="000000"/>
                </a:solidFill>
              </a:rPr>
              <a:t>Two transactions both missing device data aren't actually similar, they're just both incomplete. Ignoring that gap would have created false matches.</a:t>
            </a:r>
            <a:endParaRPr>
              <a:solidFill>
                <a:srgbClr val="000000"/>
              </a:solidFill>
            </a:endParaRPr>
          </a:p>
          <a:p>
            <a:pPr indent="-323850" lvl="0" marL="457200" rtl="0" algn="l">
              <a:lnSpc>
                <a:spcPct val="115000"/>
              </a:lnSpc>
              <a:spcBef>
                <a:spcPts val="0"/>
              </a:spcBef>
              <a:spcAft>
                <a:spcPts val="0"/>
              </a:spcAft>
              <a:buClr>
                <a:srgbClr val="000000"/>
              </a:buClr>
              <a:buSzPts val="1500"/>
              <a:buFont typeface="Roboto"/>
              <a:buChar char="●"/>
            </a:pPr>
            <a:r>
              <a:rPr b="1" lang="en-US" sz="1500">
                <a:solidFill>
                  <a:srgbClr val="000000"/>
                </a:solidFill>
              </a:rPr>
              <a:t>Hopkins statistic: 0.981 on the initial sample; 0.970–0.982 across five random seeds, with a mean of 0.974.</a:t>
            </a:r>
            <a:endParaRPr sz="1500">
              <a:solidFill>
                <a:srgbClr val="000000"/>
              </a:solidFill>
            </a:endParaRPr>
          </a:p>
          <a:p>
            <a:pPr indent="-323850" lvl="1" marL="914400" rtl="0" algn="l">
              <a:lnSpc>
                <a:spcPct val="115000"/>
              </a:lnSpc>
              <a:spcBef>
                <a:spcPts val="0"/>
              </a:spcBef>
              <a:spcAft>
                <a:spcPts val="0"/>
              </a:spcAft>
              <a:buClr>
                <a:srgbClr val="000000"/>
              </a:buClr>
              <a:buSzPts val="1500"/>
              <a:buFont typeface="Arial"/>
              <a:buChar char="○"/>
            </a:pPr>
            <a:r>
              <a:rPr lang="en-US">
                <a:solidFill>
                  <a:srgbClr val="000000"/>
                </a:solidFill>
              </a:rPr>
              <a:t>This is what told us the data had real patterns worth finding, not random noise, before we spent any time building a model. </a:t>
            </a:r>
            <a:endParaRPr>
              <a:solidFill>
                <a:srgbClr val="000000"/>
              </a:solidFill>
            </a:endParaRPr>
          </a:p>
          <a:p>
            <a:pPr indent="-323850" lvl="1" marL="914400" rtl="0" algn="l">
              <a:lnSpc>
                <a:spcPct val="115000"/>
              </a:lnSpc>
              <a:spcBef>
                <a:spcPts val="0"/>
              </a:spcBef>
              <a:spcAft>
                <a:spcPts val="0"/>
              </a:spcAft>
              <a:buClr>
                <a:srgbClr val="000000"/>
              </a:buClr>
              <a:buSzPts val="1500"/>
              <a:buFont typeface="Arial"/>
              <a:buChar char="○"/>
            </a:pPr>
            <a:r>
              <a:rPr lang="en-US">
                <a:solidFill>
                  <a:srgbClr val="000000"/>
                </a:solidFill>
              </a:rPr>
              <a:t>In short: the effort to cluster wasn't a gamble, it was justified upfront.</a:t>
            </a:r>
            <a:endParaRPr sz="1500">
              <a:solidFill>
                <a:srgbClr val="000000"/>
              </a:solidFill>
            </a:endParaRPr>
          </a:p>
        </p:txBody>
      </p:sp>
      <p:pic>
        <p:nvPicPr>
          <p:cNvPr id="111" name="Google Shape;111;p19"/>
          <p:cNvPicPr preferRelativeResize="0"/>
          <p:nvPr/>
        </p:nvPicPr>
        <p:blipFill>
          <a:blip r:embed="rId3">
            <a:alphaModFix/>
          </a:blip>
          <a:stretch>
            <a:fillRect/>
          </a:stretch>
        </p:blipFill>
        <p:spPr>
          <a:xfrm>
            <a:off x="6775138" y="1583262"/>
            <a:ext cx="4130724" cy="3932075"/>
          </a:xfrm>
          <a:prstGeom prst="rect">
            <a:avLst/>
          </a:prstGeom>
          <a:noFill/>
          <a:ln>
            <a:noFill/>
          </a:ln>
        </p:spPr>
      </p:pic>
      <p:sp>
        <p:nvSpPr>
          <p:cNvPr id="112" name="Google Shape;112;p19"/>
          <p:cNvSpPr txBox="1"/>
          <p:nvPr/>
        </p:nvSpPr>
        <p:spPr>
          <a:xfrm>
            <a:off x="6928175" y="5515325"/>
            <a:ext cx="3779700" cy="6465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rgbClr val="073763"/>
              </a:buClr>
              <a:buSzPts val="1000"/>
              <a:buChar char="●"/>
            </a:pPr>
            <a:r>
              <a:rPr lang="en-US" sz="1000">
                <a:solidFill>
                  <a:srgbClr val="073763"/>
                </a:solidFill>
              </a:rPr>
              <a:t>Each dot = one transaction. </a:t>
            </a:r>
            <a:endParaRPr sz="1000">
              <a:solidFill>
                <a:srgbClr val="073763"/>
              </a:solidFill>
            </a:endParaRPr>
          </a:p>
          <a:p>
            <a:pPr indent="-292100" lvl="0" marL="457200" rtl="0" algn="l">
              <a:spcBef>
                <a:spcPts val="0"/>
              </a:spcBef>
              <a:spcAft>
                <a:spcPts val="0"/>
              </a:spcAft>
              <a:buClr>
                <a:srgbClr val="073763"/>
              </a:buClr>
              <a:buSzPts val="1000"/>
              <a:buChar char="●"/>
            </a:pPr>
            <a:r>
              <a:rPr lang="en-US" sz="1000">
                <a:solidFill>
                  <a:srgbClr val="073763"/>
                </a:solidFill>
              </a:rPr>
              <a:t>The t-SNE visualization suggests local structure, but it is exploratory and does not by itself prove clusterability.</a:t>
            </a:r>
            <a:endParaRPr sz="1000">
              <a:solidFill>
                <a:srgbClr val="073763"/>
              </a:solidFill>
            </a:endParaRPr>
          </a:p>
        </p:txBody>
      </p:sp>
      <p:sp>
        <p:nvSpPr>
          <p:cNvPr id="113" name="Google Shape;113;p19"/>
          <p:cNvSpPr/>
          <p:nvPr/>
        </p:nvSpPr>
        <p:spPr>
          <a:xfrm>
            <a:off x="7188875" y="2396300"/>
            <a:ext cx="752100" cy="752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4" name="Google Shape;114;p19"/>
          <p:cNvSpPr/>
          <p:nvPr/>
        </p:nvSpPr>
        <p:spPr>
          <a:xfrm>
            <a:off x="9005625" y="1981575"/>
            <a:ext cx="569400" cy="569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5" name="Google Shape;115;p19"/>
          <p:cNvSpPr/>
          <p:nvPr/>
        </p:nvSpPr>
        <p:spPr>
          <a:xfrm>
            <a:off x="9575025" y="2695450"/>
            <a:ext cx="569400" cy="569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6" name="Google Shape;116;p19"/>
          <p:cNvSpPr/>
          <p:nvPr/>
        </p:nvSpPr>
        <p:spPr>
          <a:xfrm>
            <a:off x="8073075" y="4130850"/>
            <a:ext cx="429300" cy="449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7" name="Google Shape;117;p19"/>
          <p:cNvSpPr/>
          <p:nvPr/>
        </p:nvSpPr>
        <p:spPr>
          <a:xfrm>
            <a:off x="8841075" y="4130850"/>
            <a:ext cx="898500" cy="890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8" name="Google Shape;118;p19"/>
          <p:cNvSpPr/>
          <p:nvPr/>
        </p:nvSpPr>
        <p:spPr>
          <a:xfrm>
            <a:off x="8205375" y="4580250"/>
            <a:ext cx="635700" cy="6465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19" name="Google Shape;119;p19"/>
          <p:cNvSpPr/>
          <p:nvPr/>
        </p:nvSpPr>
        <p:spPr>
          <a:xfrm>
            <a:off x="7349300" y="1881325"/>
            <a:ext cx="2306100" cy="2831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0" name="Google Shape;120;p19"/>
          <p:cNvSpPr/>
          <p:nvPr/>
        </p:nvSpPr>
        <p:spPr>
          <a:xfrm>
            <a:off x="9328650" y="3409325"/>
            <a:ext cx="635700" cy="651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1" name="Google Shape;121;p19"/>
          <p:cNvSpPr/>
          <p:nvPr/>
        </p:nvSpPr>
        <p:spPr>
          <a:xfrm>
            <a:off x="9739575" y="3223487"/>
            <a:ext cx="635700" cy="651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2" name="Google Shape;122;p19"/>
          <p:cNvSpPr/>
          <p:nvPr/>
        </p:nvSpPr>
        <p:spPr>
          <a:xfrm>
            <a:off x="10042375" y="3561722"/>
            <a:ext cx="429300" cy="4992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3" name="Google Shape;123;p19"/>
          <p:cNvSpPr/>
          <p:nvPr/>
        </p:nvSpPr>
        <p:spPr>
          <a:xfrm>
            <a:off x="9655400" y="3875087"/>
            <a:ext cx="635700" cy="651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500">
                <a:solidFill>
                  <a:srgbClr val="073763"/>
                </a:solidFill>
              </a:rPr>
              <a:t>ML Solution and Implementation |</a:t>
            </a:r>
            <a:r>
              <a:rPr lang="en-US" sz="2500">
                <a:solidFill>
                  <a:srgbClr val="073763"/>
                </a:solidFill>
              </a:rPr>
              <a:t>Group transactions by similarity alone before checking which ones were fraud</a:t>
            </a:r>
            <a:endParaRPr sz="2500">
              <a:solidFill>
                <a:srgbClr val="073763"/>
              </a:solidFill>
            </a:endParaRPr>
          </a:p>
        </p:txBody>
      </p:sp>
      <p:sp>
        <p:nvSpPr>
          <p:cNvPr id="130" name="Google Shape;130;p20"/>
          <p:cNvSpPr txBox="1"/>
          <p:nvPr>
            <p:ph idx="1" type="body"/>
          </p:nvPr>
        </p:nvSpPr>
        <p:spPr>
          <a:xfrm>
            <a:off x="838200" y="1690825"/>
            <a:ext cx="7503600" cy="4485900"/>
          </a:xfrm>
          <a:prstGeom prst="rect">
            <a:avLst/>
          </a:prstGeom>
        </p:spPr>
        <p:txBody>
          <a:bodyPr anchorCtr="0" anchor="t" bIns="45700" lIns="91425" spcFirstLastPara="1" rIns="91425" wrap="square" tIns="45700">
            <a:normAutofit fontScale="92500" lnSpcReduction="10000"/>
          </a:bodyPr>
          <a:lstStyle/>
          <a:p>
            <a:pPr indent="-340201" lvl="0" marL="457200" rtl="0" algn="l">
              <a:lnSpc>
                <a:spcPct val="105000"/>
              </a:lnSpc>
              <a:spcBef>
                <a:spcPts val="1000"/>
              </a:spcBef>
              <a:spcAft>
                <a:spcPts val="0"/>
              </a:spcAft>
              <a:buSzPct val="100000"/>
              <a:buChar char="●"/>
            </a:pPr>
            <a:r>
              <a:rPr lang="en-US" sz="1900">
                <a:solidFill>
                  <a:schemeClr val="dk1"/>
                </a:solidFill>
              </a:rPr>
              <a:t>Three different grouping methods were tested, since each catches a different kind of pattern:</a:t>
            </a:r>
            <a:endParaRPr sz="1900">
              <a:solidFill>
                <a:schemeClr val="dk1"/>
              </a:solidFill>
            </a:endParaRPr>
          </a:p>
          <a:p>
            <a:pPr indent="-340201" lvl="1" marL="914400" rtl="0" algn="l">
              <a:lnSpc>
                <a:spcPct val="105000"/>
              </a:lnSpc>
              <a:spcBef>
                <a:spcPts val="0"/>
              </a:spcBef>
              <a:spcAft>
                <a:spcPts val="0"/>
              </a:spcAft>
              <a:buSzPct val="100000"/>
              <a:buChar char="○"/>
            </a:pPr>
            <a:r>
              <a:rPr b="1" lang="en-US" sz="1900">
                <a:solidFill>
                  <a:schemeClr val="dk1"/>
                </a:solidFill>
              </a:rPr>
              <a:t>K-Means:</a:t>
            </a:r>
            <a:r>
              <a:rPr lang="en-US" sz="1900">
                <a:solidFill>
                  <a:schemeClr val="dk1"/>
                </a:solidFill>
              </a:rPr>
              <a:t> sorts every transaction into a fixed number of neighborhoods.</a:t>
            </a:r>
            <a:endParaRPr sz="1900">
              <a:solidFill>
                <a:schemeClr val="dk1"/>
              </a:solidFill>
            </a:endParaRPr>
          </a:p>
          <a:p>
            <a:pPr indent="-340201" lvl="1" marL="914400" rtl="0" algn="l">
              <a:lnSpc>
                <a:spcPct val="105000"/>
              </a:lnSpc>
              <a:spcBef>
                <a:spcPts val="0"/>
              </a:spcBef>
              <a:spcAft>
                <a:spcPts val="0"/>
              </a:spcAft>
              <a:buSzPct val="100000"/>
              <a:buChar char="○"/>
            </a:pPr>
            <a:r>
              <a:rPr b="1" lang="en-US" sz="1900">
                <a:solidFill>
                  <a:schemeClr val="dk1"/>
                </a:solidFill>
              </a:rPr>
              <a:t>DBSCAN:</a:t>
            </a:r>
            <a:r>
              <a:rPr lang="en-US" sz="1900">
                <a:solidFill>
                  <a:schemeClr val="dk1"/>
                </a:solidFill>
              </a:rPr>
              <a:t> finds naturally dense pockets of similar transactions and flags anything that doesn't fit anywhere as unusual.</a:t>
            </a:r>
            <a:endParaRPr sz="1900">
              <a:solidFill>
                <a:schemeClr val="dk1"/>
              </a:solidFill>
            </a:endParaRPr>
          </a:p>
          <a:p>
            <a:pPr indent="-340201" lvl="1" marL="914400" rtl="0" algn="l">
              <a:lnSpc>
                <a:spcPct val="105000"/>
              </a:lnSpc>
              <a:spcBef>
                <a:spcPts val="0"/>
              </a:spcBef>
              <a:spcAft>
                <a:spcPts val="0"/>
              </a:spcAft>
              <a:buSzPct val="100000"/>
              <a:buChar char="○"/>
            </a:pPr>
            <a:r>
              <a:rPr b="1" lang="en-US" sz="1900">
                <a:solidFill>
                  <a:schemeClr val="dk1"/>
                </a:solidFill>
              </a:rPr>
              <a:t>Hierarchical:</a:t>
            </a:r>
            <a:r>
              <a:rPr lang="en-US" sz="1900">
                <a:solidFill>
                  <a:schemeClr val="dk1"/>
                </a:solidFill>
              </a:rPr>
              <a:t> builds a family tree of similarity, used as a sanity check on the other two.</a:t>
            </a:r>
            <a:endParaRPr sz="1900">
              <a:solidFill>
                <a:schemeClr val="dk1"/>
              </a:solidFill>
            </a:endParaRPr>
          </a:p>
          <a:p>
            <a:pPr indent="-340201" lvl="0" marL="457200" rtl="0" algn="l">
              <a:lnSpc>
                <a:spcPct val="105000"/>
              </a:lnSpc>
              <a:spcBef>
                <a:spcPts val="0"/>
              </a:spcBef>
              <a:spcAft>
                <a:spcPts val="0"/>
              </a:spcAft>
              <a:buSzPct val="100000"/>
              <a:buChar char="●"/>
            </a:pPr>
            <a:r>
              <a:rPr lang="en-US" sz="1900">
                <a:solidFill>
                  <a:schemeClr val="dk1"/>
                </a:solidFill>
              </a:rPr>
              <a:t>The fraud label was excluded from the clustering fits. It was  used afterwards for candidate-k selection and external validation.</a:t>
            </a:r>
            <a:endParaRPr sz="1900">
              <a:solidFill>
                <a:schemeClr val="dk1"/>
              </a:solidFill>
            </a:endParaRPr>
          </a:p>
          <a:p>
            <a:pPr indent="-340201" lvl="0" marL="457200" rtl="0" algn="l">
              <a:lnSpc>
                <a:spcPct val="105000"/>
              </a:lnSpc>
              <a:spcBef>
                <a:spcPts val="0"/>
              </a:spcBef>
              <a:spcAft>
                <a:spcPts val="0"/>
              </a:spcAft>
              <a:buSzPct val="100000"/>
              <a:buChar char="●"/>
            </a:pPr>
            <a:r>
              <a:rPr lang="en-US" sz="1900">
                <a:solidFill>
                  <a:schemeClr val="dk1"/>
                </a:solidFill>
              </a:rPr>
              <a:t>K-Means and DBSCAN were evaluated using 80/20 splits. These were holdout-oriented robustness checks; shared preprocessing and DBSCAN’s eps were established earlier, and DBSCAN holdout labels were assigned using a KNN proxy.</a:t>
            </a:r>
            <a:endParaRPr sz="1900">
              <a:solidFill>
                <a:schemeClr val="dk1"/>
              </a:solidFill>
            </a:endParaRPr>
          </a:p>
          <a:p>
            <a:pPr indent="-340201" lvl="0" marL="457200" rtl="0" algn="l">
              <a:lnSpc>
                <a:spcPct val="105000"/>
              </a:lnSpc>
              <a:spcBef>
                <a:spcPts val="0"/>
              </a:spcBef>
              <a:spcAft>
                <a:spcPts val="0"/>
              </a:spcAft>
              <a:buSzPct val="100000"/>
              <a:buChar char="●"/>
            </a:pPr>
            <a:r>
              <a:rPr lang="en-US" sz="1900">
                <a:solidFill>
                  <a:schemeClr val="dk1"/>
                </a:solidFill>
              </a:rPr>
              <a:t>Hierarchical clustering was evaluated on a smaller sample and was not holdout-tested.</a:t>
            </a:r>
            <a:endParaRPr sz="1900">
              <a:solidFill>
                <a:schemeClr val="dk1"/>
              </a:solidFill>
            </a:endParaRPr>
          </a:p>
        </p:txBody>
      </p:sp>
      <p:sp>
        <p:nvSpPr>
          <p:cNvPr id="131" name="Google Shape;131;p20"/>
          <p:cNvSpPr/>
          <p:nvPr/>
        </p:nvSpPr>
        <p:spPr>
          <a:xfrm>
            <a:off x="8662747" y="1674399"/>
            <a:ext cx="2476500" cy="8322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Roboto"/>
                <a:ea typeface="Roboto"/>
                <a:cs typeface="Roboto"/>
                <a:sym typeface="Roboto"/>
              </a:rPr>
              <a:t>590k Raw Transactions</a:t>
            </a:r>
            <a:endParaRPr b="1">
              <a:solidFill>
                <a:schemeClr val="dk1"/>
              </a:solidFill>
              <a:latin typeface="Roboto"/>
              <a:ea typeface="Roboto"/>
              <a:cs typeface="Roboto"/>
              <a:sym typeface="Roboto"/>
            </a:endParaRPr>
          </a:p>
        </p:txBody>
      </p:sp>
      <p:sp>
        <p:nvSpPr>
          <p:cNvPr id="132" name="Google Shape;132;p20"/>
          <p:cNvSpPr/>
          <p:nvPr/>
        </p:nvSpPr>
        <p:spPr>
          <a:xfrm>
            <a:off x="8662747" y="2759249"/>
            <a:ext cx="2476500" cy="832200"/>
          </a:xfrm>
          <a:prstGeom prst="round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Roboto"/>
                <a:ea typeface="Roboto"/>
                <a:cs typeface="Roboto"/>
                <a:sym typeface="Roboto"/>
              </a:rPr>
              <a:t>Group by Similarity via 3 Methods (K-Means, DBSCAN, Hierarchical)</a:t>
            </a:r>
            <a:endParaRPr b="1">
              <a:solidFill>
                <a:schemeClr val="lt1"/>
              </a:solidFill>
              <a:latin typeface="Roboto"/>
              <a:ea typeface="Roboto"/>
              <a:cs typeface="Roboto"/>
              <a:sym typeface="Roboto"/>
            </a:endParaRPr>
          </a:p>
        </p:txBody>
      </p:sp>
      <p:sp>
        <p:nvSpPr>
          <p:cNvPr id="133" name="Google Shape;133;p20"/>
          <p:cNvSpPr/>
          <p:nvPr/>
        </p:nvSpPr>
        <p:spPr>
          <a:xfrm>
            <a:off x="8662747" y="3844099"/>
            <a:ext cx="2476500" cy="8322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Roboto"/>
                <a:ea typeface="Roboto"/>
                <a:cs typeface="Roboto"/>
                <a:sym typeface="Roboto"/>
              </a:rPr>
              <a:t>Check: Does any group have unusual fraud concentration?</a:t>
            </a:r>
            <a:endParaRPr b="1">
              <a:solidFill>
                <a:schemeClr val="dk1"/>
              </a:solidFill>
              <a:latin typeface="Roboto"/>
              <a:ea typeface="Roboto"/>
              <a:cs typeface="Roboto"/>
              <a:sym typeface="Roboto"/>
            </a:endParaRPr>
          </a:p>
        </p:txBody>
      </p:sp>
      <p:sp>
        <p:nvSpPr>
          <p:cNvPr id="134" name="Google Shape;134;p20"/>
          <p:cNvSpPr/>
          <p:nvPr/>
        </p:nvSpPr>
        <p:spPr>
          <a:xfrm>
            <a:off x="8662747" y="4928949"/>
            <a:ext cx="2476500" cy="832200"/>
          </a:xfrm>
          <a:prstGeom prst="roundRect">
            <a:avLst>
              <a:gd fmla="val 16667" name="adj"/>
            </a:avLst>
          </a:prstGeom>
          <a:solidFill>
            <a:srgbClr val="0737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Roboto"/>
                <a:ea typeface="Roboto"/>
                <a:cs typeface="Roboto"/>
                <a:sym typeface="Roboto"/>
              </a:rPr>
              <a:t>Validate on data the model never saw (K-Means and DBSCAN)</a:t>
            </a:r>
            <a:endParaRPr b="1">
              <a:solidFill>
                <a:schemeClr val="lt1"/>
              </a:solidFill>
              <a:latin typeface="Roboto"/>
              <a:ea typeface="Roboto"/>
              <a:cs typeface="Roboto"/>
              <a:sym typeface="Roboto"/>
            </a:endParaRPr>
          </a:p>
        </p:txBody>
      </p:sp>
      <p:cxnSp>
        <p:nvCxnSpPr>
          <p:cNvPr id="135" name="Google Shape;135;p20"/>
          <p:cNvCxnSpPr>
            <a:stCxn id="131" idx="2"/>
            <a:endCxn id="132" idx="0"/>
          </p:cNvCxnSpPr>
          <p:nvPr/>
        </p:nvCxnSpPr>
        <p:spPr>
          <a:xfrm>
            <a:off x="9900997" y="2506599"/>
            <a:ext cx="0" cy="252600"/>
          </a:xfrm>
          <a:prstGeom prst="straightConnector1">
            <a:avLst/>
          </a:prstGeom>
          <a:noFill/>
          <a:ln cap="flat" cmpd="sng" w="28575">
            <a:solidFill>
              <a:schemeClr val="dk2"/>
            </a:solidFill>
            <a:prstDash val="solid"/>
            <a:round/>
            <a:headEnd len="med" w="med" type="none"/>
            <a:tailEnd len="med" w="med" type="triangle"/>
          </a:ln>
        </p:spPr>
      </p:cxnSp>
      <p:cxnSp>
        <p:nvCxnSpPr>
          <p:cNvPr id="136" name="Google Shape;136;p20"/>
          <p:cNvCxnSpPr>
            <a:stCxn id="132" idx="2"/>
            <a:endCxn id="133" idx="0"/>
          </p:cNvCxnSpPr>
          <p:nvPr/>
        </p:nvCxnSpPr>
        <p:spPr>
          <a:xfrm>
            <a:off x="9900997" y="3591449"/>
            <a:ext cx="0" cy="252600"/>
          </a:xfrm>
          <a:prstGeom prst="straightConnector1">
            <a:avLst/>
          </a:prstGeom>
          <a:noFill/>
          <a:ln cap="flat" cmpd="sng" w="28575">
            <a:solidFill>
              <a:schemeClr val="dk2"/>
            </a:solidFill>
            <a:prstDash val="solid"/>
            <a:round/>
            <a:headEnd len="med" w="med" type="none"/>
            <a:tailEnd len="med" w="med" type="triangle"/>
          </a:ln>
        </p:spPr>
      </p:cxnSp>
      <p:cxnSp>
        <p:nvCxnSpPr>
          <p:cNvPr id="137" name="Google Shape;137;p20"/>
          <p:cNvCxnSpPr>
            <a:stCxn id="133" idx="2"/>
            <a:endCxn id="134" idx="0"/>
          </p:cNvCxnSpPr>
          <p:nvPr/>
        </p:nvCxnSpPr>
        <p:spPr>
          <a:xfrm>
            <a:off x="9900997" y="4676299"/>
            <a:ext cx="0" cy="2526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idx="1" type="body"/>
          </p:nvPr>
        </p:nvSpPr>
        <p:spPr>
          <a:xfrm>
            <a:off x="838200" y="1604200"/>
            <a:ext cx="6511200" cy="4572900"/>
          </a:xfrm>
          <a:prstGeom prst="rect">
            <a:avLst/>
          </a:prstGeom>
        </p:spPr>
        <p:txBody>
          <a:bodyPr anchorCtr="0" anchor="t" bIns="45700" lIns="91425" spcFirstLastPara="1" rIns="91425" wrap="square" tIns="45700">
            <a:normAutofit/>
          </a:bodyPr>
          <a:lstStyle/>
          <a:p>
            <a:pPr indent="-336550" lvl="0" marL="457200" rtl="0" algn="l">
              <a:lnSpc>
                <a:spcPct val="115000"/>
              </a:lnSpc>
              <a:spcBef>
                <a:spcPts val="1000"/>
              </a:spcBef>
              <a:spcAft>
                <a:spcPts val="0"/>
              </a:spcAft>
              <a:buClr>
                <a:srgbClr val="000000"/>
              </a:buClr>
              <a:buSzPts val="1700"/>
              <a:buChar char="●"/>
            </a:pPr>
            <a:r>
              <a:rPr lang="en-US" sz="1600">
                <a:solidFill>
                  <a:srgbClr val="000000"/>
                </a:solidFill>
              </a:rPr>
              <a:t>Tested group sizes 2 to 10 on a 20,000-transaction sample.</a:t>
            </a:r>
            <a:endParaRPr sz="1600">
              <a:solidFill>
                <a:srgbClr val="000000"/>
              </a:solidFill>
            </a:endParaRPr>
          </a:p>
          <a:p>
            <a:pPr indent="-336550" lvl="0" marL="457200" rtl="0" algn="l">
              <a:lnSpc>
                <a:spcPct val="115000"/>
              </a:lnSpc>
              <a:spcBef>
                <a:spcPts val="0"/>
              </a:spcBef>
              <a:spcAft>
                <a:spcPts val="0"/>
              </a:spcAft>
              <a:buClr>
                <a:srgbClr val="000000"/>
              </a:buClr>
              <a:buSzPts val="1700"/>
              <a:buChar char="●"/>
            </a:pPr>
            <a:r>
              <a:rPr lang="en-US" sz="1600">
                <a:solidFill>
                  <a:srgbClr val="000000"/>
                </a:solidFill>
              </a:rPr>
              <a:t>Elbow and Silhouette pointed to different statistically reasonable values while fraud concentration determined k=5.</a:t>
            </a:r>
            <a:endParaRPr sz="1600">
              <a:solidFill>
                <a:srgbClr val="000000"/>
              </a:solidFill>
            </a:endParaRPr>
          </a:p>
          <a:p>
            <a:pPr indent="-336550" lvl="1" marL="914400" rtl="0" algn="l">
              <a:lnSpc>
                <a:spcPct val="115000"/>
              </a:lnSpc>
              <a:spcBef>
                <a:spcPts val="0"/>
              </a:spcBef>
              <a:spcAft>
                <a:spcPts val="0"/>
              </a:spcAft>
              <a:buClr>
                <a:srgbClr val="000000"/>
              </a:buClr>
              <a:buSzPts val="1700"/>
              <a:buChar char="○"/>
            </a:pPr>
            <a:r>
              <a:rPr lang="en-US" sz="1400">
                <a:solidFill>
                  <a:srgbClr val="000000"/>
                </a:solidFill>
              </a:rPr>
              <a:t>Elbow pointed toward roughly k=3-4, Silhouette pointed to k=2.</a:t>
            </a:r>
            <a:endParaRPr sz="1400">
              <a:solidFill>
                <a:srgbClr val="000000"/>
              </a:solidFill>
            </a:endParaRPr>
          </a:p>
          <a:p>
            <a:pPr indent="-336550" lvl="1" marL="914400" rtl="0" algn="l">
              <a:lnSpc>
                <a:spcPct val="115000"/>
              </a:lnSpc>
              <a:spcBef>
                <a:spcPts val="0"/>
              </a:spcBef>
              <a:spcAft>
                <a:spcPts val="0"/>
              </a:spcAft>
              <a:buClr>
                <a:srgbClr val="000000"/>
              </a:buClr>
              <a:buSzPts val="1700"/>
              <a:buChar char="○"/>
            </a:pPr>
            <a:r>
              <a:rPr lang="en-US" sz="1400">
                <a:solidFill>
                  <a:srgbClr val="000000"/>
                </a:solidFill>
              </a:rPr>
              <a:t>Both optimize for statistical shape, not fraud concentration</a:t>
            </a:r>
            <a:endParaRPr sz="1400">
              <a:solidFill>
                <a:srgbClr val="000000"/>
              </a:solidFill>
            </a:endParaRPr>
          </a:p>
          <a:p>
            <a:pPr indent="-336550" lvl="1" marL="914400" rtl="0" algn="l">
              <a:lnSpc>
                <a:spcPct val="115000"/>
              </a:lnSpc>
              <a:spcBef>
                <a:spcPts val="0"/>
              </a:spcBef>
              <a:spcAft>
                <a:spcPts val="0"/>
              </a:spcAft>
              <a:buClr>
                <a:srgbClr val="000000"/>
              </a:buClr>
              <a:buSzPts val="1700"/>
              <a:buChar char="○"/>
            </a:pPr>
            <a:r>
              <a:rPr lang="en-US" sz="1400">
                <a:solidFill>
                  <a:srgbClr val="000000"/>
                </a:solidFill>
              </a:rPr>
              <a:t>Choosing k=3 or k=4 produced lower fraud concentration than k=5.</a:t>
            </a:r>
            <a:endParaRPr sz="1400">
              <a:solidFill>
                <a:srgbClr val="000000"/>
              </a:solidFill>
            </a:endParaRPr>
          </a:p>
          <a:p>
            <a:pPr indent="-336550" lvl="0" marL="457200" rtl="0" algn="l">
              <a:lnSpc>
                <a:spcPct val="115000"/>
              </a:lnSpc>
              <a:spcBef>
                <a:spcPts val="0"/>
              </a:spcBef>
              <a:spcAft>
                <a:spcPts val="0"/>
              </a:spcAft>
              <a:buClr>
                <a:srgbClr val="000000"/>
              </a:buClr>
              <a:buSzPts val="1700"/>
              <a:buChar char="●"/>
            </a:pPr>
            <a:r>
              <a:rPr b="1" lang="en-US" sz="1600">
                <a:solidFill>
                  <a:srgbClr val="000000"/>
                </a:solidFill>
              </a:rPr>
              <a:t>Chose 5 groups instead: one small, tight group of 152 transactions, 54.61% fraud — over 15x baseline.</a:t>
            </a:r>
            <a:endParaRPr b="1" sz="1600">
              <a:solidFill>
                <a:srgbClr val="000000"/>
              </a:solidFill>
            </a:endParaRPr>
          </a:p>
        </p:txBody>
      </p:sp>
      <p:sp>
        <p:nvSpPr>
          <p:cNvPr id="144" name="Google Shape;144;p21"/>
          <p:cNvSpPr txBox="1"/>
          <p:nvPr>
            <p:ph type="title"/>
          </p:nvPr>
        </p:nvSpPr>
        <p:spPr>
          <a:xfrm>
            <a:off x="838200" y="365125"/>
            <a:ext cx="7122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500">
                <a:solidFill>
                  <a:srgbClr val="073763"/>
                </a:solidFill>
              </a:rPr>
              <a:t>Results &amp; Findings: K-Means | </a:t>
            </a:r>
            <a:r>
              <a:rPr lang="en-US" sz="2500">
                <a:solidFill>
                  <a:srgbClr val="073763"/>
                </a:solidFill>
              </a:rPr>
              <a:t>Fraud concentration, not Silhouette, decided k=5</a:t>
            </a:r>
            <a:endParaRPr sz="2500">
              <a:solidFill>
                <a:srgbClr val="073763"/>
              </a:solidFill>
            </a:endParaRPr>
          </a:p>
        </p:txBody>
      </p:sp>
      <p:pic>
        <p:nvPicPr>
          <p:cNvPr id="145" name="Google Shape;145;p21"/>
          <p:cNvPicPr preferRelativeResize="0"/>
          <p:nvPr/>
        </p:nvPicPr>
        <p:blipFill>
          <a:blip r:embed="rId3">
            <a:alphaModFix/>
          </a:blip>
          <a:stretch>
            <a:fillRect/>
          </a:stretch>
        </p:blipFill>
        <p:spPr>
          <a:xfrm>
            <a:off x="417175" y="4305000"/>
            <a:ext cx="7543525" cy="2091800"/>
          </a:xfrm>
          <a:prstGeom prst="rect">
            <a:avLst/>
          </a:prstGeom>
          <a:noFill/>
          <a:ln>
            <a:noFill/>
          </a:ln>
        </p:spPr>
      </p:pic>
      <p:pic>
        <p:nvPicPr>
          <p:cNvPr id="146" name="Google Shape;146;p21"/>
          <p:cNvPicPr preferRelativeResize="0"/>
          <p:nvPr/>
        </p:nvPicPr>
        <p:blipFill>
          <a:blip r:embed="rId4">
            <a:alphaModFix/>
          </a:blip>
          <a:stretch>
            <a:fillRect/>
          </a:stretch>
        </p:blipFill>
        <p:spPr>
          <a:xfrm>
            <a:off x="8213576" y="693900"/>
            <a:ext cx="3469725" cy="5702899"/>
          </a:xfrm>
          <a:prstGeom prst="rect">
            <a:avLst/>
          </a:prstGeom>
          <a:noFill/>
          <a:ln>
            <a:noFill/>
          </a:ln>
        </p:spPr>
      </p:pic>
      <p:sp>
        <p:nvSpPr>
          <p:cNvPr id="147" name="Google Shape;147;p21"/>
          <p:cNvSpPr/>
          <p:nvPr/>
        </p:nvSpPr>
        <p:spPr>
          <a:xfrm>
            <a:off x="8043700" y="5835325"/>
            <a:ext cx="3639600" cy="210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48" name="Google Shape;148;p21"/>
          <p:cNvSpPr/>
          <p:nvPr/>
        </p:nvSpPr>
        <p:spPr>
          <a:xfrm>
            <a:off x="8043700" y="2849475"/>
            <a:ext cx="3416400" cy="210600"/>
          </a:xfrm>
          <a:prstGeom prst="rect">
            <a:avLst/>
          </a:prstGeom>
          <a:noFill/>
          <a:ln cap="flat" cmpd="sng" w="19050">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49" name="Google Shape;149;p21"/>
          <p:cNvSpPr/>
          <p:nvPr/>
        </p:nvSpPr>
        <p:spPr>
          <a:xfrm>
            <a:off x="8043700" y="3894200"/>
            <a:ext cx="3416400" cy="210600"/>
          </a:xfrm>
          <a:prstGeom prst="rect">
            <a:avLst/>
          </a:prstGeom>
          <a:noFill/>
          <a:ln cap="flat" cmpd="sng" w="19050">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50" name="Google Shape;150;p21"/>
          <p:cNvSpPr txBox="1"/>
          <p:nvPr/>
        </p:nvSpPr>
        <p:spPr>
          <a:xfrm>
            <a:off x="1781175" y="6353175"/>
            <a:ext cx="8839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t>Fraud labels were not used in the clustering fit, but they were used afterward to compare candidate k values against the business KPI. The final k=5 choice was post-hoc label-informed. </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500">
                <a:solidFill>
                  <a:srgbClr val="073763"/>
                </a:solidFill>
              </a:rPr>
              <a:t>Results &amp; Findings: DBSCAN | </a:t>
            </a:r>
            <a:endParaRPr b="1" sz="2500">
              <a:solidFill>
                <a:srgbClr val="073763"/>
              </a:solidFill>
            </a:endParaRPr>
          </a:p>
          <a:p>
            <a:pPr indent="0" lvl="0" marL="0" rtl="0" algn="l">
              <a:lnSpc>
                <a:spcPct val="115000"/>
              </a:lnSpc>
              <a:spcBef>
                <a:spcPts val="0"/>
              </a:spcBef>
              <a:spcAft>
                <a:spcPts val="0"/>
              </a:spcAft>
              <a:buNone/>
            </a:pPr>
            <a:r>
              <a:rPr lang="en-US" sz="2500">
                <a:solidFill>
                  <a:srgbClr val="073763"/>
                </a:solidFill>
              </a:rPr>
              <a:t>The noise points held the real fraud signal</a:t>
            </a:r>
            <a:endParaRPr sz="2500">
              <a:solidFill>
                <a:srgbClr val="073763"/>
              </a:solidFill>
            </a:endParaRPr>
          </a:p>
        </p:txBody>
      </p:sp>
      <p:sp>
        <p:nvSpPr>
          <p:cNvPr id="157" name="Google Shape;157;p22"/>
          <p:cNvSpPr txBox="1"/>
          <p:nvPr>
            <p:ph idx="1" type="body"/>
          </p:nvPr>
        </p:nvSpPr>
        <p:spPr>
          <a:xfrm>
            <a:off x="882325" y="1524000"/>
            <a:ext cx="10471500" cy="2498100"/>
          </a:xfrm>
          <a:prstGeom prst="rect">
            <a:avLst/>
          </a:prstGeom>
        </p:spPr>
        <p:txBody>
          <a:bodyPr anchorCtr="0" anchor="t" bIns="45700" lIns="91425" spcFirstLastPara="1" rIns="91425" wrap="square" tIns="45700">
            <a:normAutofit lnSpcReduction="10000"/>
          </a:bodyPr>
          <a:lstStyle/>
          <a:p>
            <a:pPr indent="-330200" lvl="0" marL="457200" rtl="0" algn="l">
              <a:lnSpc>
                <a:spcPct val="105000"/>
              </a:lnSpc>
              <a:spcBef>
                <a:spcPts val="1000"/>
              </a:spcBef>
              <a:spcAft>
                <a:spcPts val="0"/>
              </a:spcAft>
              <a:buClr>
                <a:schemeClr val="dk1"/>
              </a:buClr>
              <a:buSzPts val="1600"/>
              <a:buChar char="●"/>
            </a:pPr>
            <a:r>
              <a:rPr lang="en-US" sz="1600">
                <a:solidFill>
                  <a:schemeClr val="dk1"/>
                </a:solidFill>
              </a:rPr>
              <a:t>No fixed number of groups needed. It finds dense pockets and separately flags anything too sparse to belong anywhere, on a 10,000-transaction sample.</a:t>
            </a:r>
            <a:endParaRPr sz="1600">
              <a:solidFill>
                <a:schemeClr val="dk1"/>
              </a:solidFill>
            </a:endParaRPr>
          </a:p>
          <a:p>
            <a:pPr indent="-317500" lvl="1" marL="914400" rtl="0" algn="l">
              <a:lnSpc>
                <a:spcPct val="105000"/>
              </a:lnSpc>
              <a:spcBef>
                <a:spcPts val="0"/>
              </a:spcBef>
              <a:spcAft>
                <a:spcPts val="0"/>
              </a:spcAft>
              <a:buClr>
                <a:schemeClr val="dk1"/>
              </a:buClr>
              <a:buSzPts val="1400"/>
              <a:buChar char="○"/>
            </a:pPr>
            <a:r>
              <a:rPr lang="en-US" sz="1400">
                <a:solidFill>
                  <a:schemeClr val="dk1"/>
                </a:solidFill>
              </a:rPr>
              <a:t>Eps (the density threshold) was tuned on a 20,000-transaction sample; the model was then fit and evaluated on a 10,000-transaction subsample for speed.</a:t>
            </a:r>
            <a:endParaRPr sz="1400">
              <a:solidFill>
                <a:schemeClr val="dk1"/>
              </a:solidFill>
            </a:endParaRPr>
          </a:p>
          <a:p>
            <a:pPr indent="-330200" lvl="0" marL="457200" rtl="0" algn="l">
              <a:lnSpc>
                <a:spcPct val="105000"/>
              </a:lnSpc>
              <a:spcBef>
                <a:spcPts val="0"/>
              </a:spcBef>
              <a:spcAft>
                <a:spcPts val="0"/>
              </a:spcAft>
              <a:buClr>
                <a:schemeClr val="dk1"/>
              </a:buClr>
              <a:buSzPts val="1600"/>
              <a:buChar char="●"/>
            </a:pPr>
            <a:r>
              <a:rPr lang="en-US" sz="1600">
                <a:solidFill>
                  <a:schemeClr val="dk1"/>
                </a:solidFill>
              </a:rPr>
              <a:t>Found 2 dense groups but the real finding was the leftover "doesn't fit anywhere" group: </a:t>
            </a:r>
            <a:endParaRPr sz="1600">
              <a:solidFill>
                <a:schemeClr val="dk1"/>
              </a:solidFill>
            </a:endParaRPr>
          </a:p>
          <a:p>
            <a:pPr indent="-330200" lvl="1" marL="914400" rtl="0" algn="l">
              <a:lnSpc>
                <a:spcPct val="105000"/>
              </a:lnSpc>
              <a:spcBef>
                <a:spcPts val="0"/>
              </a:spcBef>
              <a:spcAft>
                <a:spcPts val="0"/>
              </a:spcAft>
              <a:buClr>
                <a:schemeClr val="dk1"/>
              </a:buClr>
              <a:buSzPts val="1600"/>
              <a:buChar char="○"/>
            </a:pPr>
            <a:r>
              <a:rPr b="1" lang="en-US" sz="1600">
                <a:solidFill>
                  <a:schemeClr val="dk1"/>
                </a:solidFill>
              </a:rPr>
              <a:t>238 transactions, 29.41% fraud — over 8x baseline</a:t>
            </a:r>
            <a:r>
              <a:rPr lang="en-US" sz="1600">
                <a:solidFill>
                  <a:schemeClr val="dk1"/>
                </a:solidFill>
              </a:rPr>
              <a:t>.</a:t>
            </a:r>
            <a:endParaRPr sz="1600">
              <a:solidFill>
                <a:schemeClr val="dk1"/>
              </a:solidFill>
            </a:endParaRPr>
          </a:p>
          <a:p>
            <a:pPr indent="-330200" lvl="0" marL="457200" rtl="0" algn="l">
              <a:lnSpc>
                <a:spcPct val="105000"/>
              </a:lnSpc>
              <a:spcBef>
                <a:spcPts val="0"/>
              </a:spcBef>
              <a:spcAft>
                <a:spcPts val="0"/>
              </a:spcAft>
              <a:buClr>
                <a:schemeClr val="dk1"/>
              </a:buClr>
              <a:buSzPts val="1600"/>
              <a:buChar char="●"/>
            </a:pPr>
            <a:r>
              <a:rPr lang="en-US" sz="1600">
                <a:solidFill>
                  <a:schemeClr val="dk1"/>
                </a:solidFill>
              </a:rPr>
              <a:t>The two "normal" dense groups sat at or below baseline. The density-noise group contained the strongest fraud concentration in this sample.</a:t>
            </a:r>
            <a:endParaRPr sz="1600">
              <a:solidFill>
                <a:schemeClr val="dk1"/>
              </a:solidFill>
            </a:endParaRPr>
          </a:p>
          <a:p>
            <a:pPr indent="-336550" lvl="0" marL="457200" rtl="0" algn="l">
              <a:lnSpc>
                <a:spcPct val="105000"/>
              </a:lnSpc>
              <a:spcBef>
                <a:spcPts val="0"/>
              </a:spcBef>
              <a:spcAft>
                <a:spcPts val="0"/>
              </a:spcAft>
              <a:buClr>
                <a:schemeClr val="dk1"/>
              </a:buClr>
              <a:buSzPts val="1700"/>
              <a:buChar char="●"/>
            </a:pPr>
            <a:r>
              <a:rPr lang="en-US" sz="1600">
                <a:solidFill>
                  <a:schemeClr val="dk1"/>
                </a:solidFill>
              </a:rPr>
              <a:t>Holdout caveat: DBSCAN has no native predict method, so holdout points were assigned using a KNN proxy. The result is encouraging but not production validation.</a:t>
            </a:r>
            <a:endParaRPr sz="1600">
              <a:solidFill>
                <a:schemeClr val="dk1"/>
              </a:solidFill>
            </a:endParaRPr>
          </a:p>
        </p:txBody>
      </p:sp>
      <p:pic>
        <p:nvPicPr>
          <p:cNvPr id="158" name="Google Shape;158;p22"/>
          <p:cNvPicPr preferRelativeResize="0"/>
          <p:nvPr/>
        </p:nvPicPr>
        <p:blipFill>
          <a:blip r:embed="rId3">
            <a:alphaModFix/>
          </a:blip>
          <a:stretch>
            <a:fillRect/>
          </a:stretch>
        </p:blipFill>
        <p:spPr>
          <a:xfrm>
            <a:off x="5422719" y="3815350"/>
            <a:ext cx="3986588" cy="2719175"/>
          </a:xfrm>
          <a:prstGeom prst="rect">
            <a:avLst/>
          </a:prstGeom>
          <a:noFill/>
          <a:ln>
            <a:noFill/>
          </a:ln>
        </p:spPr>
      </p:pic>
      <p:pic>
        <p:nvPicPr>
          <p:cNvPr id="159" name="Google Shape;159;p22"/>
          <p:cNvPicPr preferRelativeResize="0"/>
          <p:nvPr/>
        </p:nvPicPr>
        <p:blipFill>
          <a:blip r:embed="rId4">
            <a:alphaModFix/>
          </a:blip>
          <a:stretch>
            <a:fillRect/>
          </a:stretch>
        </p:blipFill>
        <p:spPr>
          <a:xfrm>
            <a:off x="2066613" y="4133795"/>
            <a:ext cx="3084850" cy="2082291"/>
          </a:xfrm>
          <a:prstGeom prst="rect">
            <a:avLst/>
          </a:prstGeom>
          <a:noFill/>
          <a:ln cap="flat" cmpd="sng" w="8200">
            <a:solidFill>
              <a:srgbClr val="D9D9D9"/>
            </a:solidFill>
            <a:prstDash val="solid"/>
            <a:round/>
            <a:headEnd len="sm" w="sm" type="none"/>
            <a:tailEnd len="sm" w="sm" type="none"/>
          </a:ln>
        </p:spPr>
      </p:pic>
      <p:sp>
        <p:nvSpPr>
          <p:cNvPr id="160" name="Google Shape;160;p22"/>
          <p:cNvSpPr/>
          <p:nvPr/>
        </p:nvSpPr>
        <p:spPr>
          <a:xfrm>
            <a:off x="2131950" y="5657543"/>
            <a:ext cx="2954400" cy="181500"/>
          </a:xfrm>
          <a:prstGeom prst="rect">
            <a:avLst/>
          </a:prstGeom>
          <a:noFill/>
          <a:ln cap="flat" cmpd="sng" w="24625">
            <a:solidFill>
              <a:srgbClr val="FF0000"/>
            </a:solidFill>
            <a:prstDash val="solid"/>
            <a:round/>
            <a:headEnd len="sm" w="sm" type="none"/>
            <a:tailEnd len="sm" w="sm" type="none"/>
          </a:ln>
        </p:spPr>
        <p:txBody>
          <a:bodyPr anchorCtr="0" anchor="ctr" bIns="78750" lIns="78750" spcFirstLastPara="1" rIns="78750" wrap="square" tIns="78750">
            <a:noAutofit/>
          </a:bodyPr>
          <a:lstStyle/>
          <a:p>
            <a:pPr indent="0" lvl="0" marL="0" rtl="0" algn="ctr">
              <a:spcBef>
                <a:spcPts val="0"/>
              </a:spcBef>
              <a:spcAft>
                <a:spcPts val="0"/>
              </a:spcAft>
              <a:buNone/>
            </a:pPr>
            <a:r>
              <a:t/>
            </a:r>
            <a:endParaRPr sz="1206">
              <a:solidFill>
                <a:schemeClr val="lt1"/>
              </a:solidFill>
              <a:latin typeface="Roboto"/>
              <a:ea typeface="Roboto"/>
              <a:cs typeface="Roboto"/>
              <a:sym typeface="Roboto"/>
            </a:endParaRPr>
          </a:p>
        </p:txBody>
      </p:sp>
      <p:cxnSp>
        <p:nvCxnSpPr>
          <p:cNvPr id="161" name="Google Shape;161;p22"/>
          <p:cNvCxnSpPr/>
          <p:nvPr/>
        </p:nvCxnSpPr>
        <p:spPr>
          <a:xfrm>
            <a:off x="5764078" y="5916689"/>
            <a:ext cx="4336200" cy="0"/>
          </a:xfrm>
          <a:prstGeom prst="straightConnector1">
            <a:avLst/>
          </a:prstGeom>
          <a:noFill/>
          <a:ln cap="flat" cmpd="sng" w="16425">
            <a:solidFill>
              <a:srgbClr val="0000FF"/>
            </a:solidFill>
            <a:prstDash val="dash"/>
            <a:round/>
            <a:headEnd len="med" w="med" type="none"/>
            <a:tailEnd len="med" w="med" type="none"/>
          </a:ln>
        </p:spPr>
      </p:cxnSp>
      <p:sp>
        <p:nvSpPr>
          <p:cNvPr id="162" name="Google Shape;162;p22"/>
          <p:cNvSpPr txBox="1"/>
          <p:nvPr/>
        </p:nvSpPr>
        <p:spPr>
          <a:xfrm>
            <a:off x="9236533" y="5536067"/>
            <a:ext cx="933000" cy="424200"/>
          </a:xfrm>
          <a:prstGeom prst="rect">
            <a:avLst/>
          </a:prstGeom>
          <a:noFill/>
          <a:ln>
            <a:noFill/>
          </a:ln>
        </p:spPr>
        <p:txBody>
          <a:bodyPr anchorCtr="0" anchor="t" bIns="78750" lIns="78750" spcFirstLastPara="1" rIns="78750" wrap="square" tIns="78750">
            <a:spAutoFit/>
          </a:bodyPr>
          <a:lstStyle/>
          <a:p>
            <a:pPr indent="0" lvl="0" marL="0" rtl="0" algn="l">
              <a:spcBef>
                <a:spcPts val="0"/>
              </a:spcBef>
              <a:spcAft>
                <a:spcPts val="0"/>
              </a:spcAft>
              <a:buNone/>
            </a:pPr>
            <a:r>
              <a:rPr b="1" lang="en-US" sz="862">
                <a:solidFill>
                  <a:srgbClr val="0000FF"/>
                </a:solidFill>
              </a:rPr>
              <a:t>eps = 18.26 (knee point) </a:t>
            </a:r>
            <a:endParaRPr b="1" sz="862">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3"/>
          <p:cNvPicPr preferRelativeResize="0"/>
          <p:nvPr/>
        </p:nvPicPr>
        <p:blipFill>
          <a:blip r:embed="rId3">
            <a:alphaModFix/>
          </a:blip>
          <a:stretch>
            <a:fillRect/>
          </a:stretch>
        </p:blipFill>
        <p:spPr>
          <a:xfrm>
            <a:off x="7017425" y="1320957"/>
            <a:ext cx="3760875" cy="1521500"/>
          </a:xfrm>
          <a:prstGeom prst="rect">
            <a:avLst/>
          </a:prstGeom>
          <a:noFill/>
          <a:ln cap="flat" cmpd="sng" w="9525">
            <a:solidFill>
              <a:srgbClr val="CCCCCC"/>
            </a:solidFill>
            <a:prstDash val="solid"/>
            <a:round/>
            <a:headEnd len="sm" w="sm" type="none"/>
            <a:tailEnd len="sm" w="sm" type="none"/>
          </a:ln>
        </p:spPr>
      </p:pic>
      <p:sp>
        <p:nvSpPr>
          <p:cNvPr id="169" name="Google Shape;169;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500">
                <a:solidFill>
                  <a:srgbClr val="073763"/>
                </a:solidFill>
              </a:rPr>
              <a:t>Results &amp; Findings: Hierarchical | </a:t>
            </a:r>
            <a:r>
              <a:rPr lang="en-US" sz="2500">
                <a:solidFill>
                  <a:srgbClr val="073763"/>
                </a:solidFill>
              </a:rPr>
              <a:t>Smaller lift. Useful as a comparison.</a:t>
            </a:r>
            <a:endParaRPr sz="2500">
              <a:solidFill>
                <a:srgbClr val="073763"/>
              </a:solidFill>
            </a:endParaRPr>
          </a:p>
        </p:txBody>
      </p:sp>
      <p:sp>
        <p:nvSpPr>
          <p:cNvPr id="170" name="Google Shape;170;p23"/>
          <p:cNvSpPr txBox="1"/>
          <p:nvPr>
            <p:ph idx="1" type="body"/>
          </p:nvPr>
        </p:nvSpPr>
        <p:spPr>
          <a:xfrm>
            <a:off x="838200" y="1564100"/>
            <a:ext cx="4746600" cy="47322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1000"/>
              </a:spcBef>
              <a:spcAft>
                <a:spcPts val="0"/>
              </a:spcAft>
              <a:buSzPts val="1800"/>
              <a:buChar char="●"/>
            </a:pPr>
            <a:r>
              <a:rPr lang="en-US">
                <a:solidFill>
                  <a:schemeClr val="dk1"/>
                </a:solidFill>
              </a:rPr>
              <a:t>Built a similarity tree on a smaller, 2,000-transaction sample </a:t>
            </a:r>
            <a:endParaRPr>
              <a:solidFill>
                <a:schemeClr val="dk1"/>
              </a:solidFill>
            </a:endParaRPr>
          </a:p>
          <a:p>
            <a:pPr indent="-342900" lvl="1" marL="914400" rtl="0" algn="l">
              <a:lnSpc>
                <a:spcPct val="115000"/>
              </a:lnSpc>
              <a:spcBef>
                <a:spcPts val="0"/>
              </a:spcBef>
              <a:spcAft>
                <a:spcPts val="0"/>
              </a:spcAft>
              <a:buSzPts val="1800"/>
              <a:buChar char="○"/>
            </a:pPr>
            <a:r>
              <a:rPr i="1" lang="en-US">
                <a:solidFill>
                  <a:schemeClr val="dk1"/>
                </a:solidFill>
              </a:rPr>
              <a:t>This method doesn't scale like the other two because of computational cost</a:t>
            </a:r>
            <a:r>
              <a:rPr lang="en-US">
                <a:solidFill>
                  <a:schemeClr val="dk1"/>
                </a:solidFill>
              </a:rPr>
              <a:t>.</a:t>
            </a:r>
            <a:endParaRPr>
              <a:solidFill>
                <a:schemeClr val="dk1"/>
              </a:solidFill>
            </a:endParaRPr>
          </a:p>
          <a:p>
            <a:pPr indent="-342900" lvl="0" marL="457200" rtl="0" algn="l">
              <a:lnSpc>
                <a:spcPct val="115000"/>
              </a:lnSpc>
              <a:spcBef>
                <a:spcPts val="0"/>
              </a:spcBef>
              <a:spcAft>
                <a:spcPts val="0"/>
              </a:spcAft>
              <a:buSzPts val="1800"/>
              <a:buChar char="●"/>
            </a:pPr>
            <a:r>
              <a:rPr lang="en-US">
                <a:solidFill>
                  <a:schemeClr val="dk1"/>
                </a:solidFill>
              </a:rPr>
              <a:t>The cleanest split isolated a meaningless outlier; finer splits fragmented into 1-3 transaction groups with wild, unreliable rates. These were small-sample noise, not signal.</a:t>
            </a:r>
            <a:endParaRPr>
              <a:solidFill>
                <a:schemeClr val="dk1"/>
              </a:solidFill>
            </a:endParaRPr>
          </a:p>
          <a:p>
            <a:pPr indent="-342900" lvl="0" marL="457200" rtl="0" algn="l">
              <a:lnSpc>
                <a:spcPct val="115000"/>
              </a:lnSpc>
              <a:spcBef>
                <a:spcPts val="0"/>
              </a:spcBef>
              <a:spcAft>
                <a:spcPts val="0"/>
              </a:spcAft>
              <a:buSzPts val="1800"/>
              <a:buChar char="●"/>
            </a:pPr>
            <a:r>
              <a:rPr b="1" lang="en-US">
                <a:solidFill>
                  <a:schemeClr val="dk1"/>
                </a:solidFill>
              </a:rPr>
              <a:t>Chose a 3-way split: a 206-transaction group, 10.68% fraud — 2.9x baseline.</a:t>
            </a:r>
            <a:endParaRPr b="1">
              <a:solidFill>
                <a:schemeClr val="dk1"/>
              </a:solidFill>
            </a:endParaRPr>
          </a:p>
          <a:p>
            <a:pPr indent="-330200" lvl="1" marL="914400" rtl="0" algn="l">
              <a:lnSpc>
                <a:spcPct val="115000"/>
              </a:lnSpc>
              <a:spcBef>
                <a:spcPts val="0"/>
              </a:spcBef>
              <a:spcAft>
                <a:spcPts val="0"/>
              </a:spcAft>
              <a:buSzPts val="1600"/>
              <a:buChar char="○"/>
            </a:pPr>
            <a:r>
              <a:rPr i="1" lang="en-US" sz="1300">
                <a:solidFill>
                  <a:schemeClr val="dk1"/>
                </a:solidFill>
              </a:rPr>
              <a:t>Smaller lift, but an observed pattern in this 2,000-transaction sample. It was not holdout-validated or stability-tested.</a:t>
            </a:r>
            <a:endParaRPr i="1" sz="1300">
              <a:solidFill>
                <a:schemeClr val="dk1"/>
              </a:solidFill>
            </a:endParaRPr>
          </a:p>
          <a:p>
            <a:pPr indent="-342900" lvl="0" marL="457200" rtl="0" algn="l">
              <a:lnSpc>
                <a:spcPct val="115000"/>
              </a:lnSpc>
              <a:spcBef>
                <a:spcPts val="0"/>
              </a:spcBef>
              <a:spcAft>
                <a:spcPts val="0"/>
              </a:spcAft>
              <a:buSzPts val="1800"/>
              <a:buChar char="●"/>
            </a:pPr>
            <a:r>
              <a:rPr lang="en-US">
                <a:solidFill>
                  <a:schemeClr val="dk1"/>
                </a:solidFill>
              </a:rPr>
              <a:t>Not stress-tested on unseen data like the other two, due to its smaller sample size. It is the least proven of the three results and not necessarily the weakest.</a:t>
            </a:r>
            <a:endParaRPr>
              <a:solidFill>
                <a:schemeClr val="dk1"/>
              </a:solidFill>
            </a:endParaRPr>
          </a:p>
        </p:txBody>
      </p:sp>
      <p:pic>
        <p:nvPicPr>
          <p:cNvPr id="171" name="Google Shape;171;p23"/>
          <p:cNvPicPr preferRelativeResize="0"/>
          <p:nvPr/>
        </p:nvPicPr>
        <p:blipFill>
          <a:blip r:embed="rId4">
            <a:alphaModFix/>
          </a:blip>
          <a:stretch>
            <a:fillRect/>
          </a:stretch>
        </p:blipFill>
        <p:spPr>
          <a:xfrm>
            <a:off x="5584800" y="2844575"/>
            <a:ext cx="6503100" cy="3522176"/>
          </a:xfrm>
          <a:prstGeom prst="rect">
            <a:avLst/>
          </a:prstGeom>
          <a:noFill/>
          <a:ln>
            <a:noFill/>
          </a:ln>
        </p:spPr>
      </p:pic>
      <p:sp>
        <p:nvSpPr>
          <p:cNvPr id="172" name="Google Shape;172;p23"/>
          <p:cNvSpPr/>
          <p:nvPr/>
        </p:nvSpPr>
        <p:spPr>
          <a:xfrm>
            <a:off x="7121851" y="2185707"/>
            <a:ext cx="3586200" cy="210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173" name="Google Shape;173;p23"/>
          <p:cNvCxnSpPr/>
          <p:nvPr/>
        </p:nvCxnSpPr>
        <p:spPr>
          <a:xfrm>
            <a:off x="5875425" y="3960399"/>
            <a:ext cx="6055800" cy="0"/>
          </a:xfrm>
          <a:prstGeom prst="straightConnector1">
            <a:avLst/>
          </a:prstGeom>
          <a:noFill/>
          <a:ln cap="flat" cmpd="sng" w="19050">
            <a:solidFill>
              <a:srgbClr val="0000FF"/>
            </a:solidFill>
            <a:prstDash val="dash"/>
            <a:round/>
            <a:headEnd len="med" w="med" type="none"/>
            <a:tailEnd len="med" w="med" type="none"/>
          </a:ln>
        </p:spPr>
      </p:cxnSp>
      <p:sp>
        <p:nvSpPr>
          <p:cNvPr id="174" name="Google Shape;174;p23"/>
          <p:cNvSpPr txBox="1"/>
          <p:nvPr/>
        </p:nvSpPr>
        <p:spPr>
          <a:xfrm>
            <a:off x="11065364" y="3645925"/>
            <a:ext cx="1082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rgbClr val="0000FF"/>
                </a:solidFill>
              </a:rPr>
              <a:t>k=3</a:t>
            </a:r>
            <a:endParaRPr b="1" sz="10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838200" y="365125"/>
            <a:ext cx="10515600" cy="11589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US" sz="2500">
                <a:solidFill>
                  <a:srgbClr val="073763"/>
                </a:solidFill>
              </a:rPr>
              <a:t>Interpretation | </a:t>
            </a:r>
            <a:r>
              <a:rPr lang="en-US" sz="2500">
                <a:solidFill>
                  <a:srgbClr val="073763"/>
                </a:solidFill>
              </a:rPr>
              <a:t>DBSCAN showed encouraging robustness; K-Means’s stronger in-sample result weakened on the evaluation split</a:t>
            </a:r>
            <a:endParaRPr sz="2500">
              <a:solidFill>
                <a:srgbClr val="073763"/>
              </a:solidFill>
            </a:endParaRPr>
          </a:p>
        </p:txBody>
      </p:sp>
      <p:sp>
        <p:nvSpPr>
          <p:cNvPr id="181" name="Google Shape;181;p24"/>
          <p:cNvSpPr txBox="1"/>
          <p:nvPr>
            <p:ph idx="1" type="body"/>
          </p:nvPr>
        </p:nvSpPr>
        <p:spPr>
          <a:xfrm>
            <a:off x="5450300" y="1524025"/>
            <a:ext cx="6130200" cy="4709100"/>
          </a:xfrm>
          <a:prstGeom prst="rect">
            <a:avLst/>
          </a:prstGeom>
        </p:spPr>
        <p:txBody>
          <a:bodyPr anchorCtr="0" anchor="t" bIns="45700" lIns="91425" spcFirstLastPara="1" rIns="91425" wrap="square" tIns="45700">
            <a:noAutofit/>
          </a:bodyPr>
          <a:lstStyle/>
          <a:p>
            <a:pPr indent="-323850" lvl="0" marL="457200" rtl="0" algn="l">
              <a:lnSpc>
                <a:spcPct val="115000"/>
              </a:lnSpc>
              <a:spcBef>
                <a:spcPts val="1000"/>
              </a:spcBef>
              <a:spcAft>
                <a:spcPts val="0"/>
              </a:spcAft>
              <a:buClr>
                <a:schemeClr val="dk1"/>
              </a:buClr>
              <a:buSzPts val="1500"/>
              <a:buChar char="●"/>
            </a:pPr>
            <a:r>
              <a:rPr lang="en-US" sz="1500">
                <a:solidFill>
                  <a:schemeClr val="dk1"/>
                </a:solidFill>
              </a:rPr>
              <a:t>All three methods found fraud-concentrated groups in their respective samples, supporting the exploratory premise of the project:</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b="1" lang="en-US">
                <a:solidFill>
                  <a:schemeClr val="dk1"/>
                </a:solidFill>
              </a:rPr>
              <a:t>K-Means 15.3x (54.61%)</a:t>
            </a:r>
            <a:endParaRPr b="1">
              <a:solidFill>
                <a:schemeClr val="dk1"/>
              </a:solidFill>
            </a:endParaRPr>
          </a:p>
          <a:p>
            <a:pPr indent="-323850" lvl="1" marL="914400" rtl="0" algn="l">
              <a:lnSpc>
                <a:spcPct val="115000"/>
              </a:lnSpc>
              <a:spcBef>
                <a:spcPts val="0"/>
              </a:spcBef>
              <a:spcAft>
                <a:spcPts val="0"/>
              </a:spcAft>
              <a:buClr>
                <a:schemeClr val="dk1"/>
              </a:buClr>
              <a:buSzPts val="1500"/>
              <a:buChar char="○"/>
            </a:pPr>
            <a:r>
              <a:rPr b="1" lang="en-US">
                <a:solidFill>
                  <a:schemeClr val="dk1"/>
                </a:solidFill>
              </a:rPr>
              <a:t>DBSCAN 8.45x (29.41%)</a:t>
            </a:r>
            <a:endParaRPr b="1">
              <a:solidFill>
                <a:schemeClr val="dk1"/>
              </a:solidFill>
            </a:endParaRPr>
          </a:p>
          <a:p>
            <a:pPr indent="-323850" lvl="1" marL="914400" rtl="0" algn="l">
              <a:lnSpc>
                <a:spcPct val="115000"/>
              </a:lnSpc>
              <a:spcBef>
                <a:spcPts val="0"/>
              </a:spcBef>
              <a:spcAft>
                <a:spcPts val="0"/>
              </a:spcAft>
              <a:buClr>
                <a:schemeClr val="dk1"/>
              </a:buClr>
              <a:buSzPts val="1500"/>
              <a:buChar char="○"/>
            </a:pPr>
            <a:r>
              <a:rPr b="1" lang="en-US">
                <a:solidFill>
                  <a:schemeClr val="dk1"/>
                </a:solidFill>
              </a:rPr>
              <a:t>Hierarchical 2.9x (10.68%)</a:t>
            </a:r>
            <a:endParaRPr b="1">
              <a:solidFill>
                <a:schemeClr val="dk1"/>
              </a:solidFill>
            </a:endParaRPr>
          </a:p>
          <a:p>
            <a:pPr indent="-323850" lvl="0" marL="457200" rtl="0" algn="l">
              <a:lnSpc>
                <a:spcPct val="115000"/>
              </a:lnSpc>
              <a:spcBef>
                <a:spcPts val="0"/>
              </a:spcBef>
              <a:spcAft>
                <a:spcPts val="0"/>
              </a:spcAft>
              <a:buClr>
                <a:srgbClr val="073763"/>
              </a:buClr>
              <a:buSzPts val="1500"/>
              <a:buChar char="●"/>
            </a:pPr>
            <a:r>
              <a:rPr b="1" lang="en-US" sz="1500">
                <a:solidFill>
                  <a:srgbClr val="073763"/>
                </a:solidFill>
              </a:rPr>
              <a:t>Interpretation:</a:t>
            </a:r>
            <a:endParaRPr b="1" sz="1500">
              <a:solidFill>
                <a:srgbClr val="073763"/>
              </a:solidFill>
            </a:endParaRPr>
          </a:p>
          <a:p>
            <a:pPr indent="-323850" lvl="1" marL="914400" rtl="0" algn="l">
              <a:lnSpc>
                <a:spcPct val="115000"/>
              </a:lnSpc>
              <a:spcBef>
                <a:spcPts val="0"/>
              </a:spcBef>
              <a:spcAft>
                <a:spcPts val="0"/>
              </a:spcAft>
              <a:buClr>
                <a:schemeClr val="dk1"/>
              </a:buClr>
              <a:buSzPts val="1500"/>
              <a:buChar char="○"/>
            </a:pPr>
            <a:r>
              <a:rPr b="1" lang="en-US">
                <a:solidFill>
                  <a:schemeClr val="dk1"/>
                </a:solidFill>
              </a:rPr>
              <a:t>DBSCAN remained in the 8–10x baseline range on the evaluation split.</a:t>
            </a:r>
            <a:r>
              <a:rPr lang="en-US">
                <a:solidFill>
                  <a:schemeClr val="dk1"/>
                </a:solidFill>
              </a:rPr>
              <a:t> This was encouraging robustness evidence, but it used shared preprocessing, preselected eps, and a KNN assignment proxy.</a:t>
            </a:r>
            <a:endParaRPr b="1">
              <a:solidFill>
                <a:schemeClr val="dk1"/>
              </a:solidFill>
            </a:endParaRPr>
          </a:p>
          <a:p>
            <a:pPr indent="-323850" lvl="1" marL="914400" rtl="0" algn="l">
              <a:lnSpc>
                <a:spcPct val="115000"/>
              </a:lnSpc>
              <a:spcBef>
                <a:spcPts val="0"/>
              </a:spcBef>
              <a:spcAft>
                <a:spcPts val="0"/>
              </a:spcAft>
              <a:buClr>
                <a:schemeClr val="dk1"/>
              </a:buClr>
              <a:buSzPts val="1500"/>
              <a:buChar char="○"/>
            </a:pPr>
            <a:r>
              <a:rPr lang="en-US">
                <a:solidFill>
                  <a:schemeClr val="dk1"/>
                </a:solidFill>
              </a:rPr>
              <a:t>K-Means's 15x looked strongest at first, but </a:t>
            </a:r>
            <a:r>
              <a:rPr b="1" lang="en-US">
                <a:solidFill>
                  <a:schemeClr val="dk1"/>
                </a:solidFill>
              </a:rPr>
              <a:t>dropped to roughly 3x on the evaluation split</a:t>
            </a:r>
            <a:r>
              <a:rPr lang="en-US">
                <a:solidFill>
                  <a:schemeClr val="dk1"/>
                </a:solidFill>
              </a:rPr>
              <a:t>. A sample-specific fit, </a:t>
            </a:r>
            <a:r>
              <a:rPr b="1" lang="en-US">
                <a:solidFill>
                  <a:schemeClr val="dk1"/>
                </a:solidFill>
              </a:rPr>
              <a:t>not a reliable pattern</a:t>
            </a:r>
            <a:r>
              <a:rPr lang="en-US">
                <a:solidFill>
                  <a:schemeClr val="dk1"/>
                </a:solidFill>
              </a:rPr>
              <a:t>.</a:t>
            </a:r>
            <a:endParaRPr>
              <a:solidFill>
                <a:schemeClr val="dk1"/>
              </a:solidFill>
            </a:endParaRPr>
          </a:p>
          <a:p>
            <a:pPr indent="-323850" lvl="1" marL="914400" rtl="0" algn="l">
              <a:lnSpc>
                <a:spcPct val="115000"/>
              </a:lnSpc>
              <a:spcBef>
                <a:spcPts val="0"/>
              </a:spcBef>
              <a:spcAft>
                <a:spcPts val="0"/>
              </a:spcAft>
              <a:buClr>
                <a:schemeClr val="dk1"/>
              </a:buClr>
              <a:buSzPts val="1500"/>
              <a:buChar char="○"/>
            </a:pPr>
            <a:r>
              <a:rPr lang="en-US">
                <a:solidFill>
                  <a:schemeClr val="dk1"/>
                </a:solidFill>
              </a:rPr>
              <a:t>Hierarchical's 2.9x was smaller and untested on unseen data. It is </a:t>
            </a:r>
            <a:r>
              <a:rPr b="1" lang="en-US">
                <a:solidFill>
                  <a:schemeClr val="dk1"/>
                </a:solidFill>
              </a:rPr>
              <a:t>the least proven</a:t>
            </a:r>
            <a:r>
              <a:rPr lang="en-US">
                <a:solidFill>
                  <a:schemeClr val="dk1"/>
                </a:solidFill>
              </a:rPr>
              <a:t>, not necessarily the weakest.</a:t>
            </a:r>
            <a:endParaRPr>
              <a:solidFill>
                <a:schemeClr val="dk1"/>
              </a:solidFill>
            </a:endParaRPr>
          </a:p>
          <a:p>
            <a:pPr indent="-311150" lvl="2" marL="1371600" rtl="0" algn="l">
              <a:lnSpc>
                <a:spcPct val="115000"/>
              </a:lnSpc>
              <a:spcBef>
                <a:spcPts val="0"/>
              </a:spcBef>
              <a:spcAft>
                <a:spcPts val="0"/>
              </a:spcAft>
              <a:buClr>
                <a:schemeClr val="dk1"/>
              </a:buClr>
              <a:buSzPts val="1300"/>
              <a:buChar char="■"/>
            </a:pPr>
            <a:r>
              <a:rPr i="1" lang="en-US" sz="1300">
                <a:solidFill>
                  <a:schemeClr val="dk1"/>
                </a:solidFill>
              </a:rPr>
              <a:t>Hierarchical provided a smaller-sample comparison, but was not holdout-validated and is not a deployment candidate.</a:t>
            </a:r>
            <a:endParaRPr b="1">
              <a:solidFill>
                <a:schemeClr val="dk1"/>
              </a:solidFill>
            </a:endParaRPr>
          </a:p>
        </p:txBody>
      </p:sp>
      <p:grpSp>
        <p:nvGrpSpPr>
          <p:cNvPr id="182" name="Google Shape;182;p24"/>
          <p:cNvGrpSpPr/>
          <p:nvPr/>
        </p:nvGrpSpPr>
        <p:grpSpPr>
          <a:xfrm>
            <a:off x="693583" y="1784257"/>
            <a:ext cx="4756709" cy="4188602"/>
            <a:chOff x="663550" y="1690825"/>
            <a:chExt cx="4991300" cy="4395175"/>
          </a:xfrm>
        </p:grpSpPr>
        <p:pic>
          <p:nvPicPr>
            <p:cNvPr id="183" name="Google Shape;183;p24"/>
            <p:cNvPicPr preferRelativeResize="0"/>
            <p:nvPr/>
          </p:nvPicPr>
          <p:blipFill rotWithShape="1">
            <a:blip r:embed="rId3">
              <a:alphaModFix/>
            </a:blip>
            <a:srcRect b="0" l="0" r="12915" t="0"/>
            <a:stretch/>
          </p:blipFill>
          <p:spPr>
            <a:xfrm>
              <a:off x="663550" y="1690825"/>
              <a:ext cx="4991300" cy="4117676"/>
            </a:xfrm>
            <a:prstGeom prst="rect">
              <a:avLst/>
            </a:prstGeom>
            <a:noFill/>
            <a:ln>
              <a:noFill/>
            </a:ln>
          </p:spPr>
        </p:pic>
        <p:sp>
          <p:nvSpPr>
            <p:cNvPr id="184" name="Google Shape;184;p24"/>
            <p:cNvSpPr txBox="1"/>
            <p:nvPr/>
          </p:nvSpPr>
          <p:spPr>
            <a:xfrm>
              <a:off x="2346175" y="5701100"/>
              <a:ext cx="1784700" cy="384900"/>
            </a:xfrm>
            <a:prstGeom prst="rect">
              <a:avLst/>
            </a:prstGeom>
            <a:noFill/>
            <a:ln>
              <a:noFill/>
            </a:ln>
          </p:spPr>
          <p:txBody>
            <a:bodyPr anchorCtr="0" anchor="t" bIns="87125" lIns="87125" spcFirstLastPara="1" rIns="87125" wrap="square" tIns="87125">
              <a:spAutoFit/>
            </a:bodyPr>
            <a:lstStyle/>
            <a:p>
              <a:pPr indent="0" lvl="0" marL="0" rtl="0" algn="ctr">
                <a:spcBef>
                  <a:spcPts val="0"/>
                </a:spcBef>
                <a:spcAft>
                  <a:spcPts val="0"/>
                </a:spcAft>
                <a:buNone/>
              </a:pPr>
              <a:r>
                <a:rPr lang="en-US" sz="1239">
                  <a:solidFill>
                    <a:schemeClr val="dk2"/>
                  </a:solidFill>
                  <a:latin typeface="Roboto"/>
                  <a:ea typeface="Roboto"/>
                  <a:cs typeface="Roboto"/>
                  <a:sym typeface="Roboto"/>
                </a:rPr>
                <a:t>Baseline (1x)</a:t>
              </a:r>
              <a:endParaRPr sz="1239">
                <a:solidFill>
                  <a:schemeClr val="dk2"/>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p25"/>
          <p:cNvGraphicFramePr/>
          <p:nvPr/>
        </p:nvGraphicFramePr>
        <p:xfrm>
          <a:off x="949441" y="1332512"/>
          <a:ext cx="3000000" cy="3000000"/>
        </p:xfrm>
        <a:graphic>
          <a:graphicData uri="http://schemas.openxmlformats.org/drawingml/2006/table">
            <a:tbl>
              <a:tblPr>
                <a:noFill/>
                <a:tableStyleId>{CC07E2D5-45CF-41F3-9BAA-CD93C9260602}</a:tableStyleId>
              </a:tblPr>
              <a:tblGrid>
                <a:gridCol w="1596550"/>
                <a:gridCol w="8807800"/>
              </a:tblGrid>
              <a:tr h="938225">
                <a:tc>
                  <a:txBody>
                    <a:bodyPr/>
                    <a:lstStyle/>
                    <a:p>
                      <a:pPr indent="0" lvl="0" marL="0" rtl="0" algn="l">
                        <a:lnSpc>
                          <a:spcPct val="115000"/>
                        </a:lnSpc>
                        <a:spcBef>
                          <a:spcPts val="0"/>
                        </a:spcBef>
                        <a:spcAft>
                          <a:spcPts val="0"/>
                        </a:spcAft>
                        <a:buNone/>
                      </a:pPr>
                      <a:r>
                        <a:rPr b="1" lang="en-US" sz="1600">
                          <a:solidFill>
                            <a:srgbClr val="0B1F3A"/>
                          </a:solidFill>
                          <a:latin typeface="Roboto"/>
                          <a:ea typeface="Roboto"/>
                          <a:cs typeface="Roboto"/>
                          <a:sym typeface="Roboto"/>
                        </a:rPr>
                        <a:t>Revenue Impact</a:t>
                      </a:r>
                      <a:endParaRPr b="1" sz="16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n-US" sz="1600">
                          <a:latin typeface="Roboto"/>
                          <a:ea typeface="Roboto"/>
                          <a:cs typeface="Roboto"/>
                          <a:sym typeface="Roboto"/>
                        </a:rPr>
                        <a:t>As noted, even a 1-point fraud-rate improvement is meaningful for companies like Vesta and Shopee. DBSCAN's 1-in-3 precision means less agent time burned on false alarms.</a:t>
                      </a:r>
                      <a:endParaRPr sz="16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r>
              <a:tr h="938225">
                <a:tc>
                  <a:txBody>
                    <a:bodyPr/>
                    <a:lstStyle/>
                    <a:p>
                      <a:pPr indent="0" lvl="0" marL="0" rtl="0" algn="l">
                        <a:lnSpc>
                          <a:spcPct val="115000"/>
                        </a:lnSpc>
                        <a:spcBef>
                          <a:spcPts val="0"/>
                        </a:spcBef>
                        <a:spcAft>
                          <a:spcPts val="0"/>
                        </a:spcAft>
                        <a:buNone/>
                      </a:pPr>
                      <a:r>
                        <a:rPr b="1" lang="en-US" sz="1600">
                          <a:solidFill>
                            <a:srgbClr val="0B1F3A"/>
                          </a:solidFill>
                          <a:latin typeface="Roboto"/>
                          <a:ea typeface="Roboto"/>
                          <a:cs typeface="Roboto"/>
                          <a:sym typeface="Roboto"/>
                        </a:rPr>
                        <a:t>Operational Impact</a:t>
                      </a:r>
                      <a:endParaRPr b="1" sz="16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US" sz="1600">
                          <a:latin typeface="Roboto"/>
                          <a:ea typeface="Roboto"/>
                          <a:cs typeface="Roboto"/>
                          <a:sym typeface="Roboto"/>
                        </a:rPr>
                        <a:t>Same logic as Shopee's own 2025 project (7 hrs to 10 mins): a validated fraud-concentrated cluster lets agents review a small, high-confidence pool instead of screening transactions one by one.</a:t>
                      </a:r>
                      <a:endParaRPr sz="16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r>
              <a:tr h="1643175">
                <a:tc>
                  <a:txBody>
                    <a:bodyPr/>
                    <a:lstStyle/>
                    <a:p>
                      <a:pPr indent="0" lvl="0" marL="0" rtl="0" algn="l">
                        <a:lnSpc>
                          <a:spcPct val="115000"/>
                        </a:lnSpc>
                        <a:spcBef>
                          <a:spcPts val="0"/>
                        </a:spcBef>
                        <a:spcAft>
                          <a:spcPts val="0"/>
                        </a:spcAft>
                        <a:buNone/>
                      </a:pPr>
                      <a:r>
                        <a:rPr b="1" lang="en-US" sz="1600">
                          <a:solidFill>
                            <a:srgbClr val="0B1F3A"/>
                          </a:solidFill>
                          <a:latin typeface="Roboto"/>
                          <a:ea typeface="Roboto"/>
                          <a:cs typeface="Roboto"/>
                          <a:sym typeface="Roboto"/>
                        </a:rPr>
                        <a:t>The Tradeoff</a:t>
                      </a:r>
                      <a:endParaRPr b="1" sz="16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US" sz="1600">
                          <a:latin typeface="Roboto"/>
                          <a:ea typeface="Roboto"/>
                          <a:cs typeface="Roboto"/>
                          <a:sym typeface="Roboto"/>
                        </a:rPr>
                        <a:t>K-Means catches more fraud but floods agents with false alarms. DBSCAN is far more precise but misses most cases. </a:t>
                      </a:r>
                      <a:endParaRPr sz="1600">
                        <a:latin typeface="Roboto"/>
                        <a:ea typeface="Roboto"/>
                        <a:cs typeface="Roboto"/>
                        <a:sym typeface="Roboto"/>
                      </a:endParaRPr>
                    </a:p>
                    <a:p>
                      <a:pPr indent="0" lvl="0" marL="0" rtl="0" algn="l">
                        <a:lnSpc>
                          <a:spcPct val="115000"/>
                        </a:lnSpc>
                        <a:spcBef>
                          <a:spcPts val="0"/>
                        </a:spcBef>
                        <a:spcAft>
                          <a:spcPts val="0"/>
                        </a:spcAft>
                        <a:buNone/>
                      </a:pPr>
                      <a:r>
                        <a:t/>
                      </a:r>
                      <a:endParaRPr sz="800">
                        <a:latin typeface="Roboto"/>
                        <a:ea typeface="Roboto"/>
                        <a:cs typeface="Roboto"/>
                        <a:sym typeface="Roboto"/>
                      </a:endParaRPr>
                    </a:p>
                    <a:p>
                      <a:pPr indent="0" lvl="0" marL="0" rtl="0" algn="l">
                        <a:lnSpc>
                          <a:spcPct val="115000"/>
                        </a:lnSpc>
                        <a:spcBef>
                          <a:spcPts val="0"/>
                        </a:spcBef>
                        <a:spcAft>
                          <a:spcPts val="0"/>
                        </a:spcAft>
                        <a:buNone/>
                      </a:pPr>
                      <a:r>
                        <a:rPr lang="en-US" sz="1600">
                          <a:latin typeface="Roboto"/>
                          <a:ea typeface="Roboto"/>
                          <a:cs typeface="Roboto"/>
                          <a:sym typeface="Roboto"/>
                        </a:rPr>
                        <a:t>A missed fraud ring costs the company directly, while a false decline costs a legitimate customer's trust. This means precision, and not just recall, determines what gets auto-actioned vs. escalated for review.</a:t>
                      </a:r>
                      <a:endParaRPr sz="16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r>
              <a:tr h="938225">
                <a:tc>
                  <a:txBody>
                    <a:bodyPr/>
                    <a:lstStyle/>
                    <a:p>
                      <a:pPr indent="0" lvl="0" marL="0" rtl="0" algn="l">
                        <a:lnSpc>
                          <a:spcPct val="115000"/>
                        </a:lnSpc>
                        <a:spcBef>
                          <a:spcPts val="0"/>
                        </a:spcBef>
                        <a:spcAft>
                          <a:spcPts val="0"/>
                        </a:spcAft>
                        <a:buNone/>
                      </a:pPr>
                      <a:r>
                        <a:rPr b="1" lang="en-US" sz="1600">
                          <a:solidFill>
                            <a:srgbClr val="0B1F3A"/>
                          </a:solidFill>
                          <a:latin typeface="Roboto"/>
                          <a:ea typeface="Roboto"/>
                          <a:cs typeface="Roboto"/>
                          <a:sym typeface="Roboto"/>
                        </a:rPr>
                        <a:t>Bias Risk</a:t>
                      </a:r>
                      <a:endParaRPr b="1" sz="1600">
                        <a:solidFill>
                          <a:srgbClr val="0B1F3A"/>
                        </a:solidFill>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US" sz="1600">
                          <a:latin typeface="Roboto"/>
                          <a:ea typeface="Roboto"/>
                          <a:cs typeface="Roboto"/>
                          <a:sym typeface="Roboto"/>
                        </a:rPr>
                        <a:t>Among the audited top 10 regions, region 330 had the highest actual fraud rate at 3.49% but was not flagged. Region 123 also had 0% flagged rate despite 2.97% actual fraud. Region 184 had 0% precision. These are screening signals using addr1 as a proxy, not proof of intentional discrimination.</a:t>
                      </a:r>
                      <a:endParaRPr sz="1600">
                        <a:latin typeface="Roboto"/>
                        <a:ea typeface="Roboto"/>
                        <a:cs typeface="Roboto"/>
                        <a:sym typeface="Roboto"/>
                      </a:endParaRPr>
                    </a:p>
                  </a:txBody>
                  <a:tcPr marT="60925" marB="60925" marR="60925" marL="60925">
                    <a:lnL cap="flat" cmpd="sng" w="12675">
                      <a:solidFill>
                        <a:srgbClr val="073763"/>
                      </a:solidFill>
                      <a:prstDash val="solid"/>
                      <a:round/>
                      <a:headEnd len="sm" w="sm" type="none"/>
                      <a:tailEnd len="sm" w="sm" type="none"/>
                    </a:lnL>
                    <a:lnR cap="flat" cmpd="sng" w="12675">
                      <a:solidFill>
                        <a:srgbClr val="073763"/>
                      </a:solidFill>
                      <a:prstDash val="solid"/>
                      <a:round/>
                      <a:headEnd len="sm" w="sm" type="none"/>
                      <a:tailEnd len="sm" w="sm" type="none"/>
                    </a:lnR>
                    <a:lnT cap="flat" cmpd="sng" w="12675">
                      <a:solidFill>
                        <a:srgbClr val="073763"/>
                      </a:solidFill>
                      <a:prstDash val="solid"/>
                      <a:round/>
                      <a:headEnd len="sm" w="sm" type="none"/>
                      <a:tailEnd len="sm" w="sm" type="none"/>
                    </a:lnT>
                    <a:lnB cap="flat" cmpd="sng" w="12675">
                      <a:solidFill>
                        <a:srgbClr val="073763"/>
                      </a:solidFill>
                      <a:prstDash val="solid"/>
                      <a:round/>
                      <a:headEnd len="sm" w="sm" type="none"/>
                      <a:tailEnd len="sm" w="sm" type="none"/>
                    </a:lnB>
                    <a:solidFill>
                      <a:schemeClr val="lt1"/>
                    </a:solidFill>
                  </a:tcPr>
                </a:tc>
              </a:tr>
            </a:tbl>
          </a:graphicData>
        </a:graphic>
      </p:graphicFrame>
      <p:sp>
        <p:nvSpPr>
          <p:cNvPr id="191" name="Google Shape;191;p25"/>
          <p:cNvSpPr txBox="1"/>
          <p:nvPr>
            <p:ph type="title"/>
          </p:nvPr>
        </p:nvSpPr>
        <p:spPr>
          <a:xfrm>
            <a:off x="838200" y="365125"/>
            <a:ext cx="10515600" cy="7167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US" sz="2500"/>
              <a:t>Business Impact and Implication | </a:t>
            </a:r>
            <a:endParaRPr b="1" sz="2500"/>
          </a:p>
          <a:p>
            <a:pPr indent="0" lvl="0" marL="0" rtl="0" algn="l">
              <a:lnSpc>
                <a:spcPct val="115000"/>
              </a:lnSpc>
              <a:spcBef>
                <a:spcPts val="0"/>
              </a:spcBef>
              <a:spcAft>
                <a:spcPts val="0"/>
              </a:spcAft>
              <a:buNone/>
            </a:pPr>
            <a:r>
              <a:rPr lang="en-US" sz="2500"/>
              <a:t>Real savings but not production-ready yet</a:t>
            </a:r>
            <a:endParaRPr b="1" sz="2500">
              <a:solidFill>
                <a:srgbClr val="07376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US" sz="2500">
                <a:solidFill>
                  <a:srgbClr val="073763"/>
                </a:solidFill>
              </a:rPr>
              <a:t>Conclusion &amp; Recommendations | </a:t>
            </a:r>
            <a:endParaRPr b="1" sz="2500">
              <a:solidFill>
                <a:srgbClr val="073763"/>
              </a:solidFill>
            </a:endParaRPr>
          </a:p>
          <a:p>
            <a:pPr indent="0" lvl="0" marL="0" rtl="0" algn="l">
              <a:lnSpc>
                <a:spcPct val="115000"/>
              </a:lnSpc>
              <a:spcBef>
                <a:spcPts val="0"/>
              </a:spcBef>
              <a:spcAft>
                <a:spcPts val="0"/>
              </a:spcAft>
              <a:buNone/>
            </a:pPr>
            <a:r>
              <a:rPr lang="en-US" sz="2500">
                <a:solidFill>
                  <a:srgbClr val="073763"/>
                </a:solidFill>
              </a:rPr>
              <a:t>Combine both models: K-Means as the net, DBSCAN as the filter</a:t>
            </a:r>
            <a:endParaRPr sz="2500">
              <a:solidFill>
                <a:srgbClr val="073763"/>
              </a:solidFill>
            </a:endParaRPr>
          </a:p>
        </p:txBody>
      </p:sp>
      <p:sp>
        <p:nvSpPr>
          <p:cNvPr id="198" name="Google Shape;198;p26"/>
          <p:cNvSpPr txBox="1"/>
          <p:nvPr>
            <p:ph idx="1" type="body"/>
          </p:nvPr>
        </p:nvSpPr>
        <p:spPr>
          <a:xfrm>
            <a:off x="838200" y="3278789"/>
            <a:ext cx="10515600" cy="3207900"/>
          </a:xfrm>
          <a:prstGeom prst="rect">
            <a:avLst/>
          </a:prstGeom>
          <a:ln>
            <a:noFill/>
          </a:ln>
        </p:spPr>
        <p:txBody>
          <a:bodyPr anchorCtr="0" anchor="t" bIns="45700" lIns="91425" spcFirstLastPara="1" rIns="91425" wrap="square" tIns="45700">
            <a:noAutofit/>
          </a:bodyPr>
          <a:lstStyle/>
          <a:p>
            <a:pPr indent="-323850" lvl="0" marL="457200" rtl="0" algn="l">
              <a:lnSpc>
                <a:spcPct val="115000"/>
              </a:lnSpc>
              <a:spcBef>
                <a:spcPts val="1000"/>
              </a:spcBef>
              <a:spcAft>
                <a:spcPts val="0"/>
              </a:spcAft>
              <a:buSzPts val="1500"/>
              <a:buChar char="●"/>
            </a:pPr>
            <a:r>
              <a:rPr b="1" lang="en-US" sz="1500">
                <a:solidFill>
                  <a:schemeClr val="dk1"/>
                </a:solidFill>
              </a:rPr>
              <a:t>To address B</a:t>
            </a:r>
            <a:r>
              <a:rPr b="1" lang="en-US" sz="1500">
                <a:solidFill>
                  <a:schemeClr val="dk1"/>
                </a:solidFill>
              </a:rPr>
              <a:t>ias Risk: </a:t>
            </a:r>
            <a:endParaRPr b="1" sz="1500">
              <a:solidFill>
                <a:schemeClr val="dk1"/>
              </a:solidFill>
            </a:endParaRPr>
          </a:p>
          <a:p>
            <a:pPr indent="-323850" lvl="1" marL="914400" rtl="0" algn="l">
              <a:lnSpc>
                <a:spcPct val="115000"/>
              </a:lnSpc>
              <a:spcBef>
                <a:spcPts val="0"/>
              </a:spcBef>
              <a:spcAft>
                <a:spcPts val="0"/>
              </a:spcAft>
              <a:buSzPts val="1500"/>
              <a:buChar char="○"/>
            </a:pPr>
            <a:r>
              <a:rPr lang="en-US">
                <a:solidFill>
                  <a:schemeClr val="dk1"/>
                </a:solidFill>
              </a:rPr>
              <a:t>Set different flagging cutoffs per group instead of one rule for everyone</a:t>
            </a:r>
            <a:endParaRPr>
              <a:solidFill>
                <a:schemeClr val="dk1"/>
              </a:solidFill>
            </a:endParaRPr>
          </a:p>
          <a:p>
            <a:pPr indent="-323850" lvl="1" marL="914400" rtl="0" algn="l">
              <a:lnSpc>
                <a:spcPct val="115000"/>
              </a:lnSpc>
              <a:spcBef>
                <a:spcPts val="0"/>
              </a:spcBef>
              <a:spcAft>
                <a:spcPts val="0"/>
              </a:spcAft>
              <a:buSzPts val="1500"/>
              <a:buChar char="○"/>
            </a:pPr>
            <a:r>
              <a:rPr lang="en-US">
                <a:solidFill>
                  <a:schemeClr val="dk1"/>
                </a:solidFill>
              </a:rPr>
              <a:t>Require human review on flags from groups that are usually wrong.</a:t>
            </a:r>
            <a:endParaRPr>
              <a:solidFill>
                <a:schemeClr val="dk1"/>
              </a:solidFill>
            </a:endParaRPr>
          </a:p>
          <a:p>
            <a:pPr indent="-323850" lvl="0" marL="457200" rtl="0" algn="l">
              <a:lnSpc>
                <a:spcPct val="115000"/>
              </a:lnSpc>
              <a:spcBef>
                <a:spcPts val="0"/>
              </a:spcBef>
              <a:spcAft>
                <a:spcPts val="0"/>
              </a:spcAft>
              <a:buSzPts val="1500"/>
              <a:buChar char="●"/>
            </a:pPr>
            <a:r>
              <a:rPr b="1" lang="en-US" sz="1500">
                <a:solidFill>
                  <a:schemeClr val="dk1"/>
                </a:solidFill>
              </a:rPr>
              <a:t>To address K-Means vs DBSCAN Tradeoff: </a:t>
            </a:r>
            <a:r>
              <a:rPr b="1" lang="en-US" sz="1500">
                <a:solidFill>
                  <a:schemeClr val="dk1"/>
                </a:solidFill>
              </a:rPr>
              <a:t>Apply</a:t>
            </a:r>
            <a:r>
              <a:rPr b="1" lang="en-US" sz="1500">
                <a:solidFill>
                  <a:schemeClr val="dk1"/>
                </a:solidFill>
              </a:rPr>
              <a:t> a two-step approach.</a:t>
            </a:r>
            <a:endParaRPr b="1" sz="1500">
              <a:solidFill>
                <a:schemeClr val="dk1"/>
              </a:solidFill>
            </a:endParaRPr>
          </a:p>
          <a:p>
            <a:pPr indent="-323850" lvl="1" marL="914400" rtl="0" algn="l">
              <a:lnSpc>
                <a:spcPct val="115000"/>
              </a:lnSpc>
              <a:spcBef>
                <a:spcPts val="0"/>
              </a:spcBef>
              <a:spcAft>
                <a:spcPts val="0"/>
              </a:spcAft>
              <a:buSzPts val="1500"/>
              <a:buChar char="○"/>
            </a:pPr>
            <a:r>
              <a:rPr lang="en-US">
                <a:solidFill>
                  <a:schemeClr val="dk1"/>
                </a:solidFill>
              </a:rPr>
              <a:t>Step 1: K-Means casts a wide, high-recall net to flag a candidate population</a:t>
            </a:r>
            <a:endParaRPr>
              <a:solidFill>
                <a:schemeClr val="dk1"/>
              </a:solidFill>
            </a:endParaRPr>
          </a:p>
          <a:p>
            <a:pPr indent="-323850" lvl="1" marL="914400" rtl="0" algn="l">
              <a:lnSpc>
                <a:spcPct val="115000"/>
              </a:lnSpc>
              <a:spcBef>
                <a:spcPts val="0"/>
              </a:spcBef>
              <a:spcAft>
                <a:spcPts val="0"/>
              </a:spcAft>
              <a:buSzPts val="1500"/>
              <a:buChar char="○"/>
            </a:pPr>
            <a:r>
              <a:rPr lang="en-US">
                <a:solidFill>
                  <a:schemeClr val="dk1"/>
                </a:solidFill>
              </a:rPr>
              <a:t>Step 2: DBSCAN re-runs within that narrowed group as a precision pass, separating real fraud clusters from the false positives K-Means swept in</a:t>
            </a:r>
            <a:endParaRPr>
              <a:solidFill>
                <a:schemeClr val="dk1"/>
              </a:solidFill>
            </a:endParaRPr>
          </a:p>
          <a:p>
            <a:pPr indent="-323850" lvl="1" marL="914400" rtl="0" algn="l">
              <a:lnSpc>
                <a:spcPct val="115000"/>
              </a:lnSpc>
              <a:spcBef>
                <a:spcPts val="0"/>
              </a:spcBef>
              <a:spcAft>
                <a:spcPts val="0"/>
              </a:spcAft>
              <a:buSzPts val="1500"/>
              <a:buChar char="○"/>
            </a:pPr>
            <a:r>
              <a:rPr lang="en-US">
                <a:solidFill>
                  <a:schemeClr val="dk1"/>
                </a:solidFill>
              </a:rPr>
              <a:t>This mirrors the Fraud Ops pattern: </a:t>
            </a:r>
            <a:r>
              <a:rPr b="1" lang="en-US">
                <a:solidFill>
                  <a:schemeClr val="dk1"/>
                </a:solidFill>
              </a:rPr>
              <a:t>Cast wide, then refine</a:t>
            </a:r>
            <a:r>
              <a:rPr lang="en-US">
                <a:solidFill>
                  <a:schemeClr val="dk1"/>
                </a:solidFill>
              </a:rPr>
              <a:t> to high-confidence cases before acting.</a:t>
            </a:r>
            <a:endParaRPr>
              <a:solidFill>
                <a:schemeClr val="dk1"/>
              </a:solidFill>
            </a:endParaRPr>
          </a:p>
          <a:p>
            <a:pPr indent="0" lvl="0" marL="0" rtl="0" algn="ctr">
              <a:lnSpc>
                <a:spcPct val="115000"/>
              </a:lnSpc>
              <a:spcBef>
                <a:spcPts val="1600"/>
              </a:spcBef>
              <a:spcAft>
                <a:spcPts val="0"/>
              </a:spcAft>
              <a:buNone/>
            </a:pPr>
            <a:r>
              <a:rPr lang="en-US" sz="1500">
                <a:solidFill>
                  <a:srgbClr val="990000"/>
                </a:solidFill>
              </a:rPr>
              <a:t>Bottom line: The two-stage funnel is designed to narrow the precision/recall gap. Recalibrating thresholds by subgroup is required to address the fairness gap. Neither should go live without the other.</a:t>
            </a:r>
            <a:endParaRPr i="1" sz="1300">
              <a:solidFill>
                <a:srgbClr val="990000"/>
              </a:solidFill>
            </a:endParaRPr>
          </a:p>
        </p:txBody>
      </p:sp>
      <p:grpSp>
        <p:nvGrpSpPr>
          <p:cNvPr id="199" name="Google Shape;199;p26"/>
          <p:cNvGrpSpPr/>
          <p:nvPr/>
        </p:nvGrpSpPr>
        <p:grpSpPr>
          <a:xfrm>
            <a:off x="2592565" y="1564034"/>
            <a:ext cx="6555120" cy="1714753"/>
            <a:chOff x="2467450" y="4381468"/>
            <a:chExt cx="7457474" cy="1950800"/>
          </a:xfrm>
        </p:grpSpPr>
        <p:pic>
          <p:nvPicPr>
            <p:cNvPr id="200" name="Google Shape;200;p26"/>
            <p:cNvPicPr preferRelativeResize="0"/>
            <p:nvPr/>
          </p:nvPicPr>
          <p:blipFill>
            <a:blip r:embed="rId3">
              <a:alphaModFix/>
            </a:blip>
            <a:stretch>
              <a:fillRect/>
            </a:stretch>
          </p:blipFill>
          <p:spPr>
            <a:xfrm>
              <a:off x="2467624" y="4381468"/>
              <a:ext cx="7457300" cy="1413800"/>
            </a:xfrm>
            <a:prstGeom prst="rect">
              <a:avLst/>
            </a:prstGeom>
            <a:noFill/>
            <a:ln>
              <a:noFill/>
            </a:ln>
          </p:spPr>
        </p:pic>
        <p:sp>
          <p:nvSpPr>
            <p:cNvPr id="201" name="Google Shape;201;p26"/>
            <p:cNvSpPr txBox="1"/>
            <p:nvPr/>
          </p:nvSpPr>
          <p:spPr>
            <a:xfrm>
              <a:off x="2467450" y="5750568"/>
              <a:ext cx="7457400" cy="581700"/>
            </a:xfrm>
            <a:prstGeom prst="rect">
              <a:avLst/>
            </a:prstGeom>
            <a:noFill/>
            <a:ln>
              <a:noFill/>
            </a:ln>
          </p:spPr>
          <p:txBody>
            <a:bodyPr anchorCtr="0" anchor="t" bIns="80350" lIns="80350" spcFirstLastPara="1" rIns="80350" wrap="square" tIns="80350">
              <a:spAutoFit/>
            </a:bodyPr>
            <a:lstStyle/>
            <a:p>
              <a:pPr indent="0" lvl="0" marL="401880" rtl="0" algn="ctr">
                <a:lnSpc>
                  <a:spcPct val="115000"/>
                </a:lnSpc>
                <a:spcBef>
                  <a:spcPts val="879"/>
                </a:spcBef>
                <a:spcAft>
                  <a:spcPts val="1406"/>
                </a:spcAft>
                <a:buNone/>
              </a:pPr>
              <a:r>
                <a:rPr lang="en-US" sz="1055">
                  <a:solidFill>
                    <a:srgbClr val="073763"/>
                  </a:solidFill>
                  <a:latin typeface="Roboto"/>
                  <a:ea typeface="Roboto"/>
                  <a:cs typeface="Roboto"/>
                  <a:sym typeface="Roboto"/>
                </a:rPr>
                <a:t>K-Means catches more fraud, but ~9 in 10 flags are false alarms. DBSCAN is more precise with 1 in 3 flagged as genuine fraud, but misses most cases.</a:t>
              </a:r>
              <a:endParaRPr sz="879">
                <a:solidFill>
                  <a:srgbClr val="073763"/>
                </a:solidFil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